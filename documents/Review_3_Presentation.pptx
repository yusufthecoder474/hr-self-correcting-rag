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2.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cac67b9920b4be2" /><Relationship Type="http://schemas.openxmlformats.org/officeDocument/2006/relationships/extended-properties" Target="/docProps/app.xml" Id="R4df5047423694d2c" /><Relationship Type="http://schemas.openxmlformats.org/officeDocument/2006/relationships/officeDocument" Target="/ppt/presentation.xml" Id="R29a8a1b5b71b483f" /></Relationships>
</file>

<file path=ppt/presentation.xml><?xml version="1.0" encoding="utf-8"?>
<p:presentation xmlns:p="http://schemas.openxmlformats.org/presentationml/2006/main">
  <p:sldMasterIdLst>
    <p:sldMasterId xmlns:r="http://schemas.openxmlformats.org/officeDocument/2006/relationships" id="2147483648" r:id="Rfa99337b6de143a9"/>
  </p:sldMasterIdLst>
  <p:notesMasterIdLst>
    <p:notesMasterId xmlns:r="http://schemas.openxmlformats.org/officeDocument/2006/relationships" r:id="R056fcd49357c40e2"/>
  </p:notesMasterIdLst>
  <p:sldIdLst>
    <p:sldId xmlns:r="http://schemas.openxmlformats.org/officeDocument/2006/relationships" id="256" r:id="Rb0dabd61f0274e29"/>
    <p:sldId xmlns:r="http://schemas.openxmlformats.org/officeDocument/2006/relationships" id="257" r:id="R838d6d7a6ce84925"/>
    <p:sldId xmlns:r="http://schemas.openxmlformats.org/officeDocument/2006/relationships" id="258" r:id="R974ebd2bec834627"/>
    <p:sldId xmlns:r="http://schemas.openxmlformats.org/officeDocument/2006/relationships" id="259" r:id="R2770d1b408554af2"/>
    <p:sldId xmlns:r="http://schemas.openxmlformats.org/officeDocument/2006/relationships" id="260" r:id="R3899a818bdb0470e"/>
    <p:sldId xmlns:r="http://schemas.openxmlformats.org/officeDocument/2006/relationships" id="261" r:id="Rcd68feff9c054a83"/>
    <p:sldId xmlns:r="http://schemas.openxmlformats.org/officeDocument/2006/relationships" id="262" r:id="R932aee4be0c54fd6"/>
    <p:sldId xmlns:r="http://schemas.openxmlformats.org/officeDocument/2006/relationships" id="263" r:id="R7607f17a60394716"/>
    <p:sldId xmlns:r="http://schemas.openxmlformats.org/officeDocument/2006/relationships" id="264" r:id="R62b7b4ccfdf745d1"/>
    <p:sldId xmlns:r="http://schemas.openxmlformats.org/officeDocument/2006/relationships" id="265" r:id="R2253ae78bc374c92"/>
    <p:sldId xmlns:r="http://schemas.openxmlformats.org/officeDocument/2006/relationships" id="266" r:id="R1f142aceb3d44082"/>
    <p:sldId xmlns:r="http://schemas.openxmlformats.org/officeDocument/2006/relationships" id="267" r:id="R81e84b1774d54aaf"/>
    <p:sldId xmlns:r="http://schemas.openxmlformats.org/officeDocument/2006/relationships" id="268" r:id="R852ba20d599c4e79"/>
    <p:sldId xmlns:r="http://schemas.openxmlformats.org/officeDocument/2006/relationships" id="269" r:id="R76101b0add774404"/>
    <p:sldId xmlns:r="http://schemas.openxmlformats.org/officeDocument/2006/relationships" id="270" r:id="R635acaf23e424ffe"/>
    <p:sldId xmlns:r="http://schemas.openxmlformats.org/officeDocument/2006/relationships" id="271" r:id="R4616dff7d2d9414f"/>
    <p:sldId xmlns:r="http://schemas.openxmlformats.org/officeDocument/2006/relationships" id="272" r:id="R92244dd85c924d41"/>
    <p:sldId xmlns:r="http://schemas.openxmlformats.org/officeDocument/2006/relationships" id="273" r:id="Rb9720d24c88b4d5c"/>
    <p:sldId xmlns:r="http://schemas.openxmlformats.org/officeDocument/2006/relationships" id="274" r:id="R9161ac58dcb64f09"/>
    <p:sldId xmlns:r="http://schemas.openxmlformats.org/officeDocument/2006/relationships" id="275" r:id="Rda97f19cef52454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a7d39d3b9734535" /><Relationship Type="http://schemas.openxmlformats.org/officeDocument/2006/relationships/slideMaster" Target="/ppt/slideMasters/slideMaster1.xml" Id="Rfa99337b6de143a9" /><Relationship Type="http://schemas.openxmlformats.org/officeDocument/2006/relationships/notesMaster" Target="/ppt/notesMasters/notesMaster1.xml" Id="R056fcd49357c40e2" /><Relationship Type="http://schemas.openxmlformats.org/officeDocument/2006/relationships/presProps" Target="/ppt/presProps.xml" Id="R573795604f364247" /><Relationship Type="http://schemas.openxmlformats.org/officeDocument/2006/relationships/tableStyles" Target="/ppt/tableStyles.xml" Id="Rfe512c101f2d4ec4" /><Relationship Type="http://schemas.openxmlformats.org/officeDocument/2006/relationships/slide" Target="/ppt/slides/slide1.xml" Id="Rb0dabd61f0274e29" /><Relationship Type="http://schemas.openxmlformats.org/officeDocument/2006/relationships/slide" Target="/ppt/slides/slide2.xml" Id="R838d6d7a6ce84925" /><Relationship Type="http://schemas.openxmlformats.org/officeDocument/2006/relationships/slide" Target="/ppt/slides/slide3.xml" Id="R974ebd2bec834627" /><Relationship Type="http://schemas.openxmlformats.org/officeDocument/2006/relationships/slide" Target="/ppt/slides/slide4.xml" Id="R2770d1b408554af2" /><Relationship Type="http://schemas.openxmlformats.org/officeDocument/2006/relationships/slide" Target="/ppt/slides/slide5.xml" Id="R3899a818bdb0470e" /><Relationship Type="http://schemas.openxmlformats.org/officeDocument/2006/relationships/slide" Target="/ppt/slides/slide6.xml" Id="Rcd68feff9c054a83" /><Relationship Type="http://schemas.openxmlformats.org/officeDocument/2006/relationships/slide" Target="/ppt/slides/slide7.xml" Id="R932aee4be0c54fd6" /><Relationship Type="http://schemas.openxmlformats.org/officeDocument/2006/relationships/slide" Target="/ppt/slides/slide8.xml" Id="R7607f17a60394716" /><Relationship Type="http://schemas.openxmlformats.org/officeDocument/2006/relationships/slide" Target="/ppt/slides/slide9.xml" Id="R62b7b4ccfdf745d1" /><Relationship Type="http://schemas.openxmlformats.org/officeDocument/2006/relationships/slide" Target="/ppt/slides/slide10.xml" Id="R2253ae78bc374c92" /><Relationship Type="http://schemas.openxmlformats.org/officeDocument/2006/relationships/slide" Target="/ppt/slides/slide11.xml" Id="R1f142aceb3d44082" /><Relationship Type="http://schemas.openxmlformats.org/officeDocument/2006/relationships/slide" Target="/ppt/slides/slide12.xml" Id="R81e84b1774d54aaf" /><Relationship Type="http://schemas.openxmlformats.org/officeDocument/2006/relationships/slide" Target="/ppt/slides/slide13.xml" Id="R852ba20d599c4e79" /><Relationship Type="http://schemas.openxmlformats.org/officeDocument/2006/relationships/slide" Target="/ppt/slides/slide14.xml" Id="R76101b0add774404" /><Relationship Type="http://schemas.openxmlformats.org/officeDocument/2006/relationships/slide" Target="/ppt/slides/slide15.xml" Id="R635acaf23e424ffe" /><Relationship Type="http://schemas.openxmlformats.org/officeDocument/2006/relationships/slide" Target="/ppt/slides/slide16.xml" Id="R4616dff7d2d9414f" /><Relationship Type="http://schemas.openxmlformats.org/officeDocument/2006/relationships/slide" Target="/ppt/slides/slide17.xml" Id="R92244dd85c924d41" /><Relationship Type="http://schemas.openxmlformats.org/officeDocument/2006/relationships/slide" Target="/ppt/slides/slide18.xml" Id="Rb9720d24c88b4d5c" /><Relationship Type="http://schemas.openxmlformats.org/officeDocument/2006/relationships/slide" Target="/ppt/slides/slide19.xml" Id="R9161ac58dcb64f09" /><Relationship Type="http://schemas.openxmlformats.org/officeDocument/2006/relationships/slide" Target="/ppt/slides/slide20.xml" Id="Rda97f19cef52454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e59b7d4ef7940d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e60a6d2dc3a48e2" /><Relationship Type="http://schemas.openxmlformats.org/officeDocument/2006/relationships/notesMaster" Target="/ppt/notesMasters/notesMaster1.xml" Id="R8aa129e8579a4f79" /></Relationships>
</file>

<file path=ppt/notesSlides/_rels/notesSlide2.xml.rels>&#65279;<?xml version="1.0" encoding="utf-8"?><Relationships xmlns="http://schemas.openxmlformats.org/package/2006/relationships"><Relationship Type="http://schemas.openxmlformats.org/officeDocument/2006/relationships/slide" Target="/ppt/slides/slide2.xml" Id="R40de201967a54b6c" /><Relationship Type="http://schemas.openxmlformats.org/officeDocument/2006/relationships/notesMaster" Target="/ppt/notesMasters/notesMaster1.xml" Id="Rd31473e517ad45e1" /></Relationships>
</file>

<file path=ppt/notesSlides/_rels/notesSlide3.xml.rels>&#65279;<?xml version="1.0" encoding="utf-8"?><Relationships xmlns="http://schemas.openxmlformats.org/package/2006/relationships"><Relationship Type="http://schemas.openxmlformats.org/officeDocument/2006/relationships/slide" Target="/ppt/slides/slide3.xml" Id="Rb6ccc7843b204a41" /><Relationship Type="http://schemas.openxmlformats.org/officeDocument/2006/relationships/notesMaster" Target="/ppt/notesMasters/notesMaster1.xml" Id="Rdb013404abf744df" /></Relationships>
</file>

<file path=ppt/notesSlides/_rels/notesSlide4.xml.rels>&#65279;<?xml version="1.0" encoding="utf-8"?><Relationships xmlns="http://schemas.openxmlformats.org/package/2006/relationships"><Relationship Type="http://schemas.openxmlformats.org/officeDocument/2006/relationships/slide" Target="/ppt/slides/slide4.xml" Id="Rf9f153bc03a14939" /><Relationship Type="http://schemas.openxmlformats.org/officeDocument/2006/relationships/notesMaster" Target="/ppt/notesMasters/notesMaster1.xml" Id="Rab79fdc2cc8b4d38" /></Relationships>
</file>

<file path=ppt/notesSlides/_rels/notesSlide5.xml.rels>&#65279;<?xml version="1.0" encoding="utf-8"?><Relationships xmlns="http://schemas.openxmlformats.org/package/2006/relationships"><Relationship Type="http://schemas.openxmlformats.org/officeDocument/2006/relationships/slide" Target="/ppt/slides/slide5.xml" Id="R3d54ca64604242e4" /><Relationship Type="http://schemas.openxmlformats.org/officeDocument/2006/relationships/notesMaster" Target="/ppt/notesMasters/notesMaster1.xml" Id="Ra5d668039f3e4027" /></Relationships>
</file>

<file path=ppt/notesSlides/_rels/notesSlide6.xml.rels>&#65279;<?xml version="1.0" encoding="utf-8"?><Relationships xmlns="http://schemas.openxmlformats.org/package/2006/relationships"><Relationship Type="http://schemas.openxmlformats.org/officeDocument/2006/relationships/slide" Target="/ppt/slides/slide6.xml" Id="R77276dbcb85447b5" /><Relationship Type="http://schemas.openxmlformats.org/officeDocument/2006/relationships/notesMaster" Target="/ppt/notesMasters/notesMaster1.xml" Id="Rca49e6da5da3417f" /></Relationships>
</file>

<file path=ppt/notesSlides/_rels/notesSlide7.xml.rels>&#65279;<?xml version="1.0" encoding="utf-8"?><Relationships xmlns="http://schemas.openxmlformats.org/package/2006/relationships"><Relationship Type="http://schemas.openxmlformats.org/officeDocument/2006/relationships/slide" Target="/ppt/slides/slide7.xml" Id="Rb1dbb1ba74234cb8" /><Relationship Type="http://schemas.openxmlformats.org/officeDocument/2006/relationships/notesMaster" Target="/ppt/notesMasters/notesMaster1.xml" Id="Rf1c2f729cd694463" /></Relationships>
</file>

<file path=ppt/notesSlides/_rels/notesSlide8.xml.rels>&#65279;<?xml version="1.0" encoding="utf-8"?><Relationships xmlns="http://schemas.openxmlformats.org/package/2006/relationships"><Relationship Type="http://schemas.openxmlformats.org/officeDocument/2006/relationships/slide" Target="/ppt/slides/slide8.xml" Id="R623b91fb0c3e44c6" /><Relationship Type="http://schemas.openxmlformats.org/officeDocument/2006/relationships/notesMaster" Target="/ppt/notesMasters/notesMaster1.xml" Id="Raf05b1eeba5b4f70" /></Relationships>
</file>

<file path=ppt/notesSlides/_rels/notesSlide9.xml.rels>&#65279;<?xml version="1.0" encoding="utf-8"?><Relationships xmlns="http://schemas.openxmlformats.org/package/2006/relationships"><Relationship Type="http://schemas.openxmlformats.org/officeDocument/2006/relationships/slide" Target="/ppt/slides/slide9.xml" Id="Rf9c78f52e7ed4cca" /><Relationship Type="http://schemas.openxmlformats.org/officeDocument/2006/relationships/notesMaster" Target="/ppt/notesMasters/notesMaster1.xml" Id="Rdfbe8ae5662f467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db5140e27164273" /><Relationship Type="http://schemas.openxmlformats.org/officeDocument/2006/relationships/notesMaster" Target="/ppt/notesMasters/notesMaster1.xml" Id="R6fa89f9efbc048a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23809c70acd41c0" /><Relationship Type="http://schemas.openxmlformats.org/officeDocument/2006/relationships/notesMaster" Target="/ppt/notesMasters/notesMaster1.xml" Id="R7be12c8800334e6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c4e0d8f4f2d4b7c" /><Relationship Type="http://schemas.openxmlformats.org/officeDocument/2006/relationships/notesMaster" Target="/ppt/notesMasters/notesMaster1.xml" Id="R87cf202f6fae48a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3e3ab24c6ec4448" /><Relationship Type="http://schemas.openxmlformats.org/officeDocument/2006/relationships/notesMaster" Target="/ppt/notesMasters/notesMaster1.xml" Id="Rd34909419bcb456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1cf027b14694ffc" /><Relationship Type="http://schemas.openxmlformats.org/officeDocument/2006/relationships/notesMaster" Target="/ppt/notesMasters/notesMaster1.xml" Id="R4fef06d2ecfc4fd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ad804553e694c45" /><Relationship Type="http://schemas.openxmlformats.org/officeDocument/2006/relationships/notesMaster" Target="/ppt/notesMasters/notesMaster1.xml" Id="Rdf62d6ed89bb441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a6e5497c8ce4816" /><Relationship Type="http://schemas.openxmlformats.org/officeDocument/2006/relationships/notesMaster" Target="/ppt/notesMasters/notesMaster1.xml" Id="Ref0363a5df14457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b4382fc822646df" /><Relationship Type="http://schemas.openxmlformats.org/officeDocument/2006/relationships/notesMaster" Target="/ppt/notesMasters/notesMaster1.xml" Id="R1938a74b13394fa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d48dd996d724523" /><Relationship Type="http://schemas.openxmlformats.org/officeDocument/2006/relationships/notesMaster" Target="/ppt/notesMasters/notesMaster1.xml" Id="Rf609a14cbf20401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6d33518ebe84521" /><Relationship Type="http://schemas.openxmlformats.org/officeDocument/2006/relationships/notesMaster" Target="/ppt/notesMasters/notesMaster1.xml" Id="R0c30859d641f497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e311a45e0354018" /><Relationship Type="http://schemas.openxmlformats.org/officeDocument/2006/relationships/notesMaster" Target="/ppt/notesMasters/notesMaster1.xml" Id="R6d191bc4e1434de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This is a working capstone prototype with evidence-bounded research. The independent pilot and live monetary comparison are not complete. Do not introduce the project as production ready.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difference between relevant text and complete policy support. A confident classifier can end retrieval while an answer still needs to abstain.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hypotheses as questions, not conclusions. The cost question is architectural: local loops do not necessarily incur Gemini requests.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diagram is a logical path. Authentication precedes the request. A local source validator can authorize its narrow answer separately from the generic critic. Gemini is final generation, not a critic call every iteration.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supplied saved classifier is preserved byte for byte. Delta is current score minus prior best, not always current minus immediately previous score. Threshold 0.75 belongs to the critic, not the Logistic Regression probability.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CL as the example: the model can predict STOP with an insufficient critic. The existing narrow source validator supplies the answer only when exact supporting section evidence is present.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actual authenticated browser capture, not a generated mockup. Explain source status, source reference and query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Real CL response: first critic .57 CONTINUE, second .71 STOP with P(STOP) .842. Source-specific rule verifies the answer. The classifier is not credited for proving the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Provenance: advanced_question_results_v2.csv and verified_metrics.json. Historical baseline is not the new strict three-call control. The 75% number is critic-defined retrieval success, not human answer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Questions were authored from source without querying the system. Category quotas are six each. Source excerpts and drafts need review. High-similarity flags and broad family overlaps are distinct and not disjoint counts.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Critic and learned preserve the no-rewrite guard. Strict budget deliberately repeats unchanged queries to make three actual retrieval calls. This is documented, not silently patched into the application.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previously used questions, three repetitions, 48 observations. Repetitions measure timing variation, not independent samples. No candidate was run. Do not use this graph to claim 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failure evidence worth showing. The critic is computed on each final rewritten query. It does not imply that budget answers are all wrong, because source rules may still support a narrow response.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development benchmark makes no API calls by design. Never report that as a measured zero-dollar cost advantage. Existing pilot has zero matched successes. Account tier is unverified. Official pricing record is in the package.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validators on/off can be assessed on identical stored contexts. No generalized quality benefit is measured. Separate section-aware indexing is pending because the existing database must remain protected.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89 tests comprise the original 80 Review 3 tests, two roots and seven benchmark tests. Browser tests used real model and copied database with temporary account. Credentials are excluded from package.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sources verified 14 October 2026. Self-RAG ICLR 2024, Adaptive-RAG NAACL 2024. CRAG cited as arXiv v3, not an unverified conference acceptance. Stop-RAG v1 and TASR v3 are workshop-related records, not main-conference novelty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the freeze guard checks content hashes and recorded named approvals but cannot verify a human identity by itself. Supervisory verification remains necessary. Blank ratings are intentional.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Preliminary discussion, not legal advice. Official VIT IPR policy amendment 16 April 2024 describes disclosure and professional review. Existing public repository history must be disclosed to the advisor/counsel; no patentability guarantee.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honestly. Deliverables are in START_HERE. Do not claim the pending independent study is finished. Suggested viva questions and complete bibliography are in documents.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51ce2a2cb7e4e4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3385f4600694a2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c7a58f6422f45a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3edf6c41d554fc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f2633b508bc4a5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b90027d464a4c7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6697C5C-8F80-4B2E-AF7E-84FEC90509C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5B56094-27B8-444B-A768-492301BB4E2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BA2C2FE-4118-4E6E-B6B2-BFBCA045236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32BA6A5-DA98-43E6-BDCB-522317122F7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4C2A4AE-0498-4A7C-9450-440BB1CF3B9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2DFB32A-026C-4AC3-B3EE-E2B7BA9D268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17EE983-6B8C-4042-AEC3-721CB9278E8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2B53F1F-2CB8-4503-9272-66F47E88B31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D640309-42DE-446B-8593-0DA2C6686DD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0BBA2AD-5242-4DF6-8573-23D88542D5F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7f108558cc04642" /><Relationship Type="http://schemas.openxmlformats.org/officeDocument/2006/relationships/slideLayout" Target="/ppt/slideLayouts/slideLayout1.xml" Id="Rde76a1a85e13402a" /><Relationship Type="http://schemas.openxmlformats.org/officeDocument/2006/relationships/slideLayout" Target="/ppt/slideLayouts/slideLayout2.xml" Id="Rb0590748f2e9457e" /><Relationship Type="http://schemas.openxmlformats.org/officeDocument/2006/relationships/slideLayout" Target="/ppt/slideLayouts/slideLayout3.xml" Id="Rd039e26798d3474b" /><Relationship Type="http://schemas.openxmlformats.org/officeDocument/2006/relationships/slideLayout" Target="/ppt/slideLayouts/slideLayout4.xml" Id="R77a7f610a6724792" /><Relationship Type="http://schemas.openxmlformats.org/officeDocument/2006/relationships/slideLayout" Target="/ppt/slideLayouts/slideLayout5.xml" Id="Rf68e870f62de45a9" /><Relationship Type="http://schemas.openxmlformats.org/officeDocument/2006/relationships/slideLayout" Target="/ppt/slideLayouts/slideLayout6.xml" Id="Rc52eff4b17f5443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e76a1a85e13402a"/>
    <p:sldLayoutId xmlns:r="http://schemas.openxmlformats.org/officeDocument/2006/relationships" id="2147483650" r:id="Rb0590748f2e9457e"/>
    <p:sldLayoutId xmlns:r="http://schemas.openxmlformats.org/officeDocument/2006/relationships" id="2147483651" r:id="Rd039e26798d3474b"/>
    <p:sldLayoutId xmlns:r="http://schemas.openxmlformats.org/officeDocument/2006/relationships" id="2147483652" r:id="R77a7f610a6724792"/>
    <p:sldLayoutId xmlns:r="http://schemas.openxmlformats.org/officeDocument/2006/relationships" id="2147483653" r:id="Rf68e870f62de45a9"/>
    <p:sldLayoutId xmlns:r="http://schemas.openxmlformats.org/officeDocument/2006/relationships" id="2147483654" r:id="Rc52eff4b17f5443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1153215b65d445b" /><Relationship Type="http://schemas.openxmlformats.org/officeDocument/2006/relationships/notesSlide" Target="/ppt/notesSlides/notesSlide1.xml" Id="R22f219aab4544eb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5de14f6bfa74123" /><Relationship Type="http://schemas.openxmlformats.org/officeDocument/2006/relationships/notesSlide" Target="/ppt/notesSlides/notesSlide2.xml" Id="R114e9dc784094d6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088ef4c6e184ef4" /><Relationship Type="http://schemas.openxmlformats.org/officeDocument/2006/relationships/notesSlide" Target="/ppt/notesSlides/notesSlide3.xml" Id="Rec9d3c1bbe1e4d7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62f81743545448f" /><Relationship Type="http://schemas.openxmlformats.org/officeDocument/2006/relationships/notesSlide" Target="/ppt/notesSlides/notesSlide4.xml" Id="Rd173cf0b88b7496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11a381e9ee44111" /><Relationship Type="http://schemas.openxmlformats.org/officeDocument/2006/relationships/notesSlide" Target="/ppt/notesSlides/notesSlide5.xml" Id="R4960e33b4fe748a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a7dbaecdb704017" /><Relationship Type="http://schemas.openxmlformats.org/officeDocument/2006/relationships/notesSlide" Target="/ppt/notesSlides/notesSlide6.xml" Id="R8e323e34a5ab4eb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c1ac109d745414b" /><Relationship Type="http://schemas.openxmlformats.org/officeDocument/2006/relationships/image" Target="/ppt/media/image.png" Id="Rf52a474edcac4077" /><Relationship Type="http://schemas.openxmlformats.org/officeDocument/2006/relationships/notesSlide" Target="/ppt/notesSlides/notesSlide7.xml" Id="R48b7fc87d7014da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d80dd2f27474434" /><Relationship Type="http://schemas.openxmlformats.org/officeDocument/2006/relationships/notesSlide" Target="/ppt/notesSlides/notesSlide8.xml" Id="R32224713dc1f48b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1a0cdfa51e747c8" /><Relationship Type="http://schemas.openxmlformats.org/officeDocument/2006/relationships/chart" Target="/ppt/slides/charts/chart1.xml" Id="R42d077b1a24843c0" /><Relationship Type="http://schemas.openxmlformats.org/officeDocument/2006/relationships/notesSlide" Target="/ppt/notesSlides/notesSlide9.xml" Id="R89bb1f220118433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8f58d9297b94584" /><Relationship Type="http://schemas.openxmlformats.org/officeDocument/2006/relationships/notesSlide" Target="/ppt/notesSlides/notesSlide10.xml" Id="R1f739bebfc194db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b12dcf2f94646c0" /><Relationship Type="http://schemas.openxmlformats.org/officeDocument/2006/relationships/notesSlide" Target="/ppt/notesSlides/notesSlide11.xml" Id="R5041ae649c31466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f859b6013e540b0" /><Relationship Type="http://schemas.openxmlformats.org/officeDocument/2006/relationships/chart" Target="/ppt/slides/charts/chart2.xml" Id="R434725cdb0274bde" /><Relationship Type="http://schemas.openxmlformats.org/officeDocument/2006/relationships/notesSlide" Target="/ppt/notesSlides/notesSlide12.xml" Id="Rc83b1a6c01e64e7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04994d9cab44b90" /><Relationship Type="http://schemas.openxmlformats.org/officeDocument/2006/relationships/notesSlide" Target="/ppt/notesSlides/notesSlide13.xml" Id="R73320bc2073147c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aba6014fcf9453f" /><Relationship Type="http://schemas.openxmlformats.org/officeDocument/2006/relationships/notesSlide" Target="/ppt/notesSlides/notesSlide14.xml" Id="Rc8c65fb720d2482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18890a193cc4d5f" /><Relationship Type="http://schemas.openxmlformats.org/officeDocument/2006/relationships/notesSlide" Target="/ppt/notesSlides/notesSlide15.xml" Id="R57b88d06ad0842b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aeec662e4514f7a" /><Relationship Type="http://schemas.openxmlformats.org/officeDocument/2006/relationships/notesSlide" Target="/ppt/notesSlides/notesSlide16.xml" Id="R56aeb94646274af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50885e7d7027433a" /><Relationship Type="http://schemas.openxmlformats.org/officeDocument/2006/relationships/notesSlide" Target="/ppt/notesSlides/notesSlide17.xml" Id="Rfbfc95cf6e38442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6a3ac175644745e7" /><Relationship Type="http://schemas.openxmlformats.org/officeDocument/2006/relationships/notesSlide" Target="/ppt/notesSlides/notesSlide18.xml" Id="Rcdb575517cb743b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d7106358da4e4789" /><Relationship Type="http://schemas.openxmlformats.org/officeDocument/2006/relationships/notesSlide" Target="/ppt/notesSlides/notesSlide19.xml" Id="Rcfed4309a6704f9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50a8d1d2ec324422" /><Relationship Type="http://schemas.openxmlformats.org/officeDocument/2006/relationships/notesSlide" Target="/ppt/notesSlides/notesSlide20.xml" Id="Ra9f174f8828846b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Mean retrieval attempts</c:v>
          </c:tx>
          <c:spPr>
            <a:solidFill xmlns:a="http://schemas.openxmlformats.org/drawingml/2006/main">
              <a:srgbClr val="087F88"/>
            </a:solidFill>
          </c:spPr>
          <c:invertIfNegative val="0"/>
          <c:cat>
            <c:strRef>
              <c:f>'Chart Data'!$A$2:$A$3</c:f>
              <c:strCache>
                <c:ptCount val="2"/>
                <c:pt idx="0">
                  <c:v>Historical baseline</c:v>
                </c:pt>
                <c:pt idx="1">
                  <c:v>Learned halting</c:v>
                </c:pt>
              </c:strCache>
            </c:strRef>
          </c:cat>
          <c:val>
            <c:numRef>
              <c:f>'Chart Data'!$B$2:$B$3</c:f>
              <c:numCache>
                <c:formatCode>0.0</c:formatCode>
                <c:ptCount val="2"/>
                <c:pt idx="0">
                  <c:v>1.76</c:v>
                </c:pt>
                <c:pt idx="1">
                  <c:v>1.35</c:v>
                </c:pt>
              </c:numCache>
            </c:numRef>
          </c:val>
        </c:ser>
        <c:dLbls>
          <c:txPr>
            <a:bodyPr xmlns:a="http://schemas.openxmlformats.org/drawingml/2006/main" anchorCtr="1"/>
            <a:lstStyle xmlns:a="http://schemas.openxmlformats.org/drawingml/2006/main"/>
            <a:p xmlns:a="http://schemas.openxmlformats.org/drawingml/2006/main">
              <a:pPr>
                <a:defRPr sz="1800">
                  <a:solidFill>
                    <a:srgbClr val="14324A"/>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4324A"/>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DCE6EB"/>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97B"/>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varyColors val="0"/>
        <c:ser>
          <c:idx val="0"/>
          <c:order val="0"/>
          <c:tx>
            <c:v>Mean attempts</c:v>
          </c:tx>
          <c:spPr>
            <a:solidFill xmlns:a="http://schemas.openxmlformats.org/drawingml/2006/main">
              <a:srgbClr val="087F88"/>
            </a:solidFill>
          </c:spPr>
          <c:invertIfNegative val="0"/>
          <c:cat>
            <c:strRef>
              <c:f>'Chart Data'!$A$2:$A$5</c:f>
              <c:strCache>
                <c:ptCount val="4"/>
                <c:pt idx="0">
                  <c:v>Learned</c:v>
                </c:pt>
                <c:pt idx="1">
                  <c:v>Critic</c:v>
                </c:pt>
                <c:pt idx="2">
                  <c:v>Single</c:v>
                </c:pt>
                <c:pt idx="3">
                  <c:v>Budget</c:v>
                </c:pt>
              </c:strCache>
            </c:strRef>
          </c:cat>
          <c:val>
            <c:numRef>
              <c:f>'Chart Data'!$B$2:$B$5</c:f>
              <c:numCache>
                <c:formatCode>0.0</c:formatCode>
                <c:ptCount val="4"/>
                <c:pt idx="0">
                  <c:v>1.5</c:v>
                </c:pt>
                <c:pt idx="1">
                  <c:v>1.25</c:v>
                </c:pt>
                <c:pt idx="2">
                  <c:v>1</c:v>
                </c:pt>
                <c:pt idx="3">
                  <c:v>3</c:v>
                </c:pt>
              </c:numCache>
            </c:numRef>
          </c:val>
        </c:ser>
        <c:dLbls>
          <c:txPr>
            <a:bodyPr xmlns:a="http://schemas.openxmlformats.org/drawingml/2006/main" anchorCtr="1"/>
            <a:lstStyle xmlns:a="http://schemas.openxmlformats.org/drawingml/2006/main"/>
            <a:p xmlns:a="http://schemas.openxmlformats.org/drawingml/2006/main">
              <a:pPr>
                <a:defRPr sz="1800">
                  <a:solidFill>
                    <a:srgbClr val="14324A"/>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4324A"/>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DCE6EB"/>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97B"/>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83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F207B8B-BD3D-4BCB-9200-40538501DA14}"/>
              </a:ext>
            </a:extLst>
          </p:cNvPr>
          <p:cNvSpPr>
            <a:spLocks xmlns:a="http://schemas.openxmlformats.org/drawingml/2006/main" noGrp="1"/>
          </p:cNvSpPr>
          <p:nvPr/>
        </p:nvSpPr>
        <p:spPr>
          <a:xfrm xmlns:a="http://schemas.openxmlformats.org/drawingml/2006/main">
            <a:off x="609600" y="409575"/>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FFFFFF"/>
                </a:solidFill>
                <a:latin typeface="Arial"/>
                <a:ea typeface="Arial"/>
                <a:cs typeface="Arial"/>
              </a:defRPr>
            </a:defPPr>
          </a:lstStyle>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Enterprise HR Knowledge Assistant</a:t>
            </a:r>
          </a:p>
        </p:txBody>
      </p:sp>
      <p:sp>
        <p:nvSpPr>
          <p:cNvPr id="2" name="">
            <a:extLst xmlns:a="http://schemas.openxmlformats.org/drawingml/2006/main">
              <a:ext uri="{FF2B5EF4-FFF2-40B4-BE49-F238E27FC236}">
                <a16:creationId xmlns:a16="http://schemas.microsoft.com/office/drawing/2014/main" id="{F8B893D3-057C-41A8-8B87-92B90269A1A4}"/>
              </a:ext>
            </a:extLst>
          </p:cNvPr>
          <p:cNvSpPr>
            <a:spLocks xmlns:a="http://schemas.openxmlformats.org/drawingml/2006/main" noGrp="1"/>
          </p:cNvSpPr>
          <p:nvPr/>
        </p:nvSpPr>
        <p:spPr>
          <a:xfrm xmlns:a="http://schemas.openxmlformats.org/drawingml/2006/main">
            <a:off x="609600" y="64198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2697B"/>
                </a:solidFill>
                <a:latin typeface="Arial"/>
                <a:ea typeface="Arial"/>
                <a:cs typeface="Arial"/>
              </a:defRPr>
            </a:defPPr>
          </a:lstStyle>
          <a:p xmlns:a="http://schemas.openxmlformats.org/drawingml/2006/main">
            <a:pPr>
              <a:defRPr sz="1200" b="0">
                <a:solidFill>
                  <a:srgbClr val="52697B"/>
                </a:solidFill>
                <a:latin typeface="Arial"/>
                <a:ea typeface="Arial"/>
                <a:cs typeface="Arial"/>
              </a:defRPr>
            </a:pPr>
            <a:r>
              <a:rPr sz="1200" b="0">
                <a:solidFill>
                  <a:srgbClr val="52697B"/>
                </a:solidFill>
                <a:latin typeface="Arial"/>
                <a:ea typeface="Arial"/>
                <a:cs typeface="Arial"/>
              </a:rPr>
              <a:t>01  |  REVIEW 3 · HR KNOWLEDGE ASSISTANT</a:t>
            </a:r>
          </a:p>
        </p:txBody>
      </p:sp>
      <p:sp>
        <p:nvSpPr>
          <p:cNvPr id="3" name="">
            <a:extLst xmlns:a="http://schemas.openxmlformats.org/drawingml/2006/main">
              <a:ext uri="{FF2B5EF4-FFF2-40B4-BE49-F238E27FC236}">
                <a16:creationId xmlns:a16="http://schemas.microsoft.com/office/drawing/2014/main" id="{E5573752-7755-4495-9754-33EB1E27672F}"/>
              </a:ext>
            </a:extLst>
          </p:cNvPr>
          <p:cNvSpPr>
            <a:spLocks xmlns:a="http://schemas.openxmlformats.org/drawingml/2006/main" noGrp="1"/>
          </p:cNvSpPr>
          <p:nvPr/>
        </p:nvSpPr>
        <p:spPr>
          <a:xfrm xmlns:a="http://schemas.openxmlformats.org/drawingml/2006/main">
            <a:off x="609600" y="1809750"/>
            <a:ext cx="104775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350" b="1">
                <a:solidFill>
                  <a:srgbClr val="FFFFFF"/>
                </a:solidFill>
                <a:latin typeface="Arial"/>
                <a:ea typeface="Arial"/>
                <a:cs typeface="Arial"/>
              </a:defRPr>
            </a:defPPr>
          </a:lstStyle>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Learned halting for</a:t>
            </a:r>
          </a:p>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self-correcting RAG</a:t>
            </a:r>
          </a:p>
        </p:txBody>
      </p:sp>
      <p:sp>
        <p:nvSpPr>
          <p:cNvPr id="4" name="">
            <a:extLst xmlns:a="http://schemas.openxmlformats.org/drawingml/2006/main">
              <a:ext uri="{FF2B5EF4-FFF2-40B4-BE49-F238E27FC236}">
                <a16:creationId xmlns:a16="http://schemas.microsoft.com/office/drawing/2014/main" id="{4FC09287-154F-4268-A151-5D71750ECCDF}"/>
              </a:ext>
            </a:extLst>
          </p:cNvPr>
          <p:cNvSpPr>
            <a:spLocks xmlns:a="http://schemas.openxmlformats.org/drawingml/2006/main" noGrp="1"/>
          </p:cNvSpPr>
          <p:nvPr/>
        </p:nvSpPr>
        <p:spPr>
          <a:xfrm xmlns:a="http://schemas.openxmlformats.org/drawingml/2006/main">
            <a:off x="666750" y="40005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83D4D1"/>
                </a:solidFill>
                <a:latin typeface="Arial"/>
                <a:ea typeface="Arial"/>
                <a:cs typeface="Arial"/>
              </a:defRPr>
            </a:defPPr>
          </a:lstStyle>
          <a:p xmlns:a="http://schemas.openxmlformats.org/drawingml/2006/main">
            <a:pPr>
              <a:defRPr sz="2100" b="0">
                <a:solidFill>
                  <a:srgbClr val="83D4D1"/>
                </a:solidFill>
                <a:latin typeface="Arial"/>
                <a:ea typeface="Arial"/>
                <a:cs typeface="Arial"/>
              </a:defRPr>
            </a:pPr>
            <a:r>
              <a:rPr sz="2100" b="0">
                <a:solidFill>
                  <a:srgbClr val="83D4D1"/>
                </a:solidFill>
                <a:latin typeface="Arial"/>
                <a:ea typeface="Arial"/>
                <a:cs typeface="Arial"/>
              </a:rPr>
              <a:t>M.Tech Integrated Software Engineering</a:t>
            </a:r>
          </a:p>
          <a:p xmlns:a="http://schemas.openxmlformats.org/drawingml/2006/main">
            <a:pPr>
              <a:defRPr sz="2100" b="0">
                <a:solidFill>
                  <a:srgbClr val="83D4D1"/>
                </a:solidFill>
                <a:latin typeface="Arial"/>
                <a:ea typeface="Arial"/>
                <a:cs typeface="Arial"/>
              </a:defRPr>
            </a:pPr>
            <a:r>
              <a:rPr sz="2100" b="0">
                <a:solidFill>
                  <a:srgbClr val="83D4D1"/>
                </a:solidFill>
                <a:latin typeface="Arial"/>
                <a:ea typeface="Arial"/>
                <a:cs typeface="Arial"/>
              </a:rPr>
              <a:t>Final Review 3 · 14 October 2026</a:t>
            </a:r>
          </a:p>
        </p:txBody>
      </p:sp>
      <p:sp>
        <p:nvSpPr>
          <p:cNvPr id="5" name="">
            <a:extLst xmlns:a="http://schemas.openxmlformats.org/drawingml/2006/main">
              <a:ext uri="{FF2B5EF4-FFF2-40B4-BE49-F238E27FC236}">
                <a16:creationId xmlns:a16="http://schemas.microsoft.com/office/drawing/2014/main" id="{9A850E1B-5ED9-48BD-BF89-CF19B4A1E7B7}"/>
              </a:ext>
            </a:extLst>
          </p:cNvPr>
          <p:cNvSpPr>
            <a:spLocks xmlns:a="http://schemas.openxmlformats.org/drawingml/2006/main" noGrp="1"/>
          </p:cNvSpPr>
          <p:nvPr/>
        </p:nvSpPr>
        <p:spPr>
          <a:xfrm xmlns:a="http://schemas.openxmlformats.org/drawingml/2006/main">
            <a:off x="666750" y="5381625"/>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B4CCD9"/>
                </a:solidFill>
                <a:latin typeface="Arial"/>
                <a:ea typeface="Arial"/>
                <a:cs typeface="Arial"/>
              </a:defRPr>
            </a:defPPr>
          </a:lstStyle>
          <a:p xmlns:a="http://schemas.openxmlformats.org/drawingml/2006/main">
            <a:pPr>
              <a:defRPr sz="1800" b="0">
                <a:solidFill>
                  <a:srgbClr val="B4CCD9"/>
                </a:solidFill>
                <a:latin typeface="Arial"/>
                <a:ea typeface="Arial"/>
                <a:cs typeface="Arial"/>
              </a:defRPr>
            </a:pPr>
            <a:r>
              <a:rPr sz="1800" b="0">
                <a:solidFill>
                  <a:srgbClr val="B4CCD9"/>
                </a:solidFill>
                <a:latin typeface="Arial"/>
                <a:ea typeface="Arial"/>
                <a:cs typeface="Arial"/>
              </a:rPr>
              <a:t>Working implementation • transparent trajectories • controlled evaluation</a:t>
            </a:r>
          </a:p>
        </p:txBody>
      </p:sp>
    </p:spTree>
    <p:extLst>
      <p:ext uri="{BB962C8B-B14F-4D97-AF65-F5344CB8AC3E}">
        <p14:creationId xmlns:p14="http://schemas.microsoft.com/office/powerpoint/2010/main" val="387045570"/>
      </p:ext>
    </p:extLst>
  </p:cSld>
</p:sld>
</file>

<file path=ppt/slides/slide2.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874E999-69E7-4536-8F85-8AE1A4944533}"/>
              </a:ext>
            </a:extLst>
          </p:cNvPr>
          <p:cNvSpPr>
            <a:spLocks xmlns:a="http://schemas.openxmlformats.org/drawingml/2006/main" noGrp="1"/>
          </p:cNvSpPr>
          <p:nvPr/>
        </p:nvSpPr>
        <p:spPr>
          <a:xfrm xmlns:a="http://schemas.openxmlformats.org/drawingml/2006/main">
            <a:off x="609600" y="409575"/>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000" b="1">
                <a:solidFill>
                  <a:srgbClr val="14324A"/>
                </a:solidFill>
                <a:latin typeface="Arial"/>
                <a:ea typeface="Arial"/>
                <a:cs typeface="Arial"/>
              </a:defRPr>
            </a:defPPr>
          </a:lstStyle>
          <a:p xmlns:a="http://schemas.openxmlformats.org/drawingml/2006/main">
            <a:pPr>
              <a:defRPr sz="3000" b="1">
                <a:solidFill>
                  <a:srgbClr val="14324A"/>
                </a:solidFill>
                <a:latin typeface="Arial"/>
                <a:ea typeface="Arial"/>
                <a:cs typeface="Arial"/>
              </a:defRPr>
            </a:pPr>
            <a:r>
              <a:rPr sz="3000" b="1">
                <a:solidFill>
                  <a:srgbClr val="14324A"/>
                </a:solidFill>
                <a:latin typeface="Arial"/>
                <a:ea typeface="Arial"/>
                <a:cs typeface="Arial"/>
              </a:rPr>
              <a:t>The problem: relevant evidence can still be incomplete</a:t>
            </a:r>
          </a:p>
        </p:txBody>
      </p:sp>
      <p:sp>
        <p:nvSpPr>
          <p:cNvPr id="2" name="">
            <a:extLst xmlns:a="http://schemas.openxmlformats.org/drawingml/2006/main">
              <a:ext uri="{FF2B5EF4-FFF2-40B4-BE49-F238E27FC236}">
                <a16:creationId xmlns:a16="http://schemas.microsoft.com/office/drawing/2014/main" id="{F6A86594-AB0E-42F9-8BE5-37B2D4B21399}"/>
              </a:ext>
            </a:extLst>
          </p:cNvPr>
          <p:cNvSpPr>
            <a:spLocks xmlns:a="http://schemas.openxmlformats.org/drawingml/2006/main" noGrp="1"/>
          </p:cNvSpPr>
          <p:nvPr/>
        </p:nvSpPr>
        <p:spPr>
          <a:xfrm xmlns:a="http://schemas.openxmlformats.org/drawingml/2006/main">
            <a:off x="609600" y="64198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2697B"/>
                </a:solidFill>
                <a:latin typeface="Arial"/>
                <a:ea typeface="Arial"/>
                <a:cs typeface="Arial"/>
              </a:defRPr>
            </a:defPPr>
          </a:lstStyle>
          <a:p xmlns:a="http://schemas.openxmlformats.org/drawingml/2006/main">
            <a:pPr>
              <a:defRPr sz="1200" b="0">
                <a:solidFill>
                  <a:srgbClr val="52697B"/>
                </a:solidFill>
                <a:latin typeface="Arial"/>
                <a:ea typeface="Arial"/>
                <a:cs typeface="Arial"/>
              </a:defRPr>
            </a:pPr>
            <a:r>
              <a:rPr sz="1200" b="0">
                <a:solidFill>
                  <a:srgbClr val="52697B"/>
                </a:solidFill>
                <a:latin typeface="Arial"/>
                <a:ea typeface="Arial"/>
                <a:cs typeface="Arial"/>
              </a:rPr>
              <a:t>02  |  REVIEW 3 · HR KNOWLEDGE ASSISTANT</a:t>
            </a:r>
          </a:p>
        </p:txBody>
      </p:sp>
      <p:sp>
        <p:nvSpPr>
          <p:cNvPr id="3" name="">
            <a:extLst xmlns:a="http://schemas.openxmlformats.org/drawingml/2006/main">
              <a:ext uri="{FF2B5EF4-FFF2-40B4-BE49-F238E27FC236}">
                <a16:creationId xmlns:a16="http://schemas.microsoft.com/office/drawing/2014/main" id="{27EE4A77-FD8C-4BB2-9B21-BF3CEEDA2609}"/>
              </a:ext>
            </a:extLst>
          </p:cNvPr>
          <p:cNvSpPr>
            <a:spLocks xmlns:a="http://schemas.openxmlformats.org/drawingml/2006/main" noGrp="1"/>
          </p:cNvSpPr>
          <p:nvPr/>
        </p:nvSpPr>
        <p:spPr>
          <a:xfrm xmlns:a="http://schemas.openxmlformats.org/drawingml/2006/main">
            <a:off x="666750" y="1666875"/>
            <a:ext cx="104775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14324A"/>
                </a:solidFill>
                <a:latin typeface="Arial"/>
                <a:ea typeface="Arial"/>
                <a:cs typeface="Arial"/>
              </a:defRPr>
            </a:defPPr>
          </a:lstStyle>
          <a:p xmlns:a="http://schemas.openxmlformats.org/drawingml/2006/main">
            <a:pPr>
              <a:defRPr sz="2175" b="0">
                <a:solidFill>
                  <a:srgbClr val="14324A"/>
                </a:solidFill>
                <a:latin typeface="Arial"/>
                <a:ea typeface="Arial"/>
                <a:cs typeface="Arial"/>
              </a:defRPr>
            </a:pPr>
            <a:r>
              <a:rPr sz="2175" b="0">
                <a:solidFill>
                  <a:srgbClr val="14324A"/>
                </a:solidFill>
                <a:latin typeface="Arial"/>
                <a:ea typeface="Arial"/>
                <a:cs typeface="Arial"/>
              </a:rPr>
              <a:t>HR questions combine eligibility, limits and approval conditions.</a:t>
            </a:r>
          </a:p>
        </p:txBody>
      </p:sp>
      <p:sp>
        <p:nvSpPr>
          <p:cNvPr id="4" name="">
            <a:extLst xmlns:a="http://schemas.openxmlformats.org/drawingml/2006/main">
              <a:ext uri="{FF2B5EF4-FFF2-40B4-BE49-F238E27FC236}">
                <a16:creationId xmlns:a16="http://schemas.microsoft.com/office/drawing/2014/main" id="{DF230597-1157-42E6-865F-E9F871851803}"/>
              </a:ext>
            </a:extLst>
          </p:cNvPr>
          <p:cNvSpPr>
            <a:spLocks xmlns:a="http://schemas.openxmlformats.org/drawingml/2006/main" noGrp="1"/>
          </p:cNvSpPr>
          <p:nvPr/>
        </p:nvSpPr>
        <p:spPr>
          <a:xfrm xmlns:a="http://schemas.openxmlformats.org/drawingml/2006/main">
            <a:off x="666750" y="2762250"/>
            <a:ext cx="104775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14324A"/>
                </a:solidFill>
                <a:latin typeface="Arial"/>
                <a:ea typeface="Arial"/>
                <a:cs typeface="Arial"/>
              </a:defRPr>
            </a:defPPr>
          </a:lstStyle>
          <a:p xmlns:a="http://schemas.openxmlformats.org/drawingml/2006/main">
            <a:pPr>
              <a:defRPr sz="2175" b="0">
                <a:solidFill>
                  <a:srgbClr val="14324A"/>
                </a:solidFill>
                <a:latin typeface="Arial"/>
                <a:ea typeface="Arial"/>
                <a:cs typeface="Arial"/>
              </a:defRPr>
            </a:pPr>
            <a:r>
              <a:rPr sz="2175" b="0">
                <a:solidFill>
                  <a:srgbClr val="14324A"/>
                </a:solidFill>
                <a:latin typeface="Arial"/>
                <a:ea typeface="Arial"/>
                <a:cs typeface="Arial"/>
              </a:rPr>
              <a:t>More retrieval can add work without resolving the missing condition.</a:t>
            </a:r>
          </a:p>
        </p:txBody>
      </p:sp>
      <p:sp>
        <p:nvSpPr>
          <p:cNvPr id="5" name="">
            <a:extLst xmlns:a="http://schemas.openxmlformats.org/drawingml/2006/main">
              <a:ext uri="{FF2B5EF4-FFF2-40B4-BE49-F238E27FC236}">
                <a16:creationId xmlns:a16="http://schemas.microsoft.com/office/drawing/2014/main" id="{93102A71-8F9A-42CF-8780-51501FF87B58}"/>
              </a:ext>
            </a:extLst>
          </p:cNvPr>
          <p:cNvSpPr>
            <a:spLocks xmlns:a="http://schemas.openxmlformats.org/drawingml/2006/main" noGrp="1"/>
          </p:cNvSpPr>
          <p:nvPr/>
        </p:nvSpPr>
        <p:spPr>
          <a:xfrm xmlns:a="http://schemas.openxmlformats.org/drawingml/2006/main">
            <a:off x="666750" y="3857625"/>
            <a:ext cx="104775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14324A"/>
                </a:solidFill>
                <a:latin typeface="Arial"/>
                <a:ea typeface="Arial"/>
                <a:cs typeface="Arial"/>
              </a:defRPr>
            </a:defPPr>
          </a:lstStyle>
          <a:p xmlns:a="http://schemas.openxmlformats.org/drawingml/2006/main">
            <a:pPr>
              <a:defRPr sz="2175" b="0">
                <a:solidFill>
                  <a:srgbClr val="14324A"/>
                </a:solidFill>
                <a:latin typeface="Arial"/>
                <a:ea typeface="Arial"/>
                <a:cs typeface="Arial"/>
              </a:defRPr>
            </a:pPr>
            <a:r>
              <a:rPr sz="2175" b="0">
                <a:solidFill>
                  <a:srgbClr val="14324A"/>
                </a:solidFill>
                <a:latin typeface="Arial"/>
                <a:ea typeface="Arial"/>
                <a:cs typeface="Arial"/>
              </a:rPr>
              <a:t>The system must show what supports an answer—and when it cannot answer.</a:t>
            </a:r>
          </a:p>
        </p:txBody>
      </p:sp>
    </p:spTree>
    <p:extLst>
      <p:ext uri="{BB962C8B-B14F-4D97-AF65-F5344CB8AC3E}">
        <p14:creationId xmlns:p14="http://schemas.microsoft.com/office/powerpoint/2010/main" val="52098831"/>
      </p:ext>
    </p:extLst>
  </p:cSld>
</p:sld>
</file>

<file path=ppt/slides/slide3.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9EF38C2-2510-4458-870E-6E05787B62E6}"/>
              </a:ext>
            </a:extLst>
          </p:cNvPr>
          <p:cNvSpPr>
            <a:spLocks xmlns:a="http://schemas.openxmlformats.org/drawingml/2006/main" noGrp="1"/>
          </p:cNvSpPr>
          <p:nvPr/>
        </p:nvSpPr>
        <p:spPr>
          <a:xfrm xmlns:a="http://schemas.openxmlformats.org/drawingml/2006/main">
            <a:off x="609600" y="409575"/>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000" b="1">
                <a:solidFill>
                  <a:srgbClr val="14324A"/>
                </a:solidFill>
                <a:latin typeface="Arial"/>
                <a:ea typeface="Arial"/>
                <a:cs typeface="Arial"/>
              </a:defRPr>
            </a:defPPr>
          </a:lstStyle>
          <a:p xmlns:a="http://schemas.openxmlformats.org/drawingml/2006/main">
            <a:pPr>
              <a:defRPr sz="3000" b="1">
                <a:solidFill>
                  <a:srgbClr val="14324A"/>
                </a:solidFill>
                <a:latin typeface="Arial"/>
                <a:ea typeface="Arial"/>
                <a:cs typeface="Arial"/>
              </a:defRPr>
            </a:pPr>
            <a:r>
              <a:rPr sz="3000" b="1">
                <a:solidFill>
                  <a:srgbClr val="14324A"/>
                </a:solidFill>
                <a:latin typeface="Arial"/>
                <a:ea typeface="Arial"/>
                <a:cs typeface="Arial"/>
              </a:rPr>
              <a:t>Research questions remain separate</a:t>
            </a:r>
          </a:p>
        </p:txBody>
      </p:sp>
      <p:sp>
        <p:nvSpPr>
          <p:cNvPr id="2" name="">
            <a:extLst xmlns:a="http://schemas.openxmlformats.org/drawingml/2006/main">
              <a:ext uri="{FF2B5EF4-FFF2-40B4-BE49-F238E27FC236}">
                <a16:creationId xmlns:a16="http://schemas.microsoft.com/office/drawing/2014/main" id="{C7F42490-BB18-48C9-BCA4-F1E80328ED75}"/>
              </a:ext>
            </a:extLst>
          </p:cNvPr>
          <p:cNvSpPr>
            <a:spLocks xmlns:a="http://schemas.openxmlformats.org/drawingml/2006/main" noGrp="1"/>
          </p:cNvSpPr>
          <p:nvPr/>
        </p:nvSpPr>
        <p:spPr>
          <a:xfrm xmlns:a="http://schemas.openxmlformats.org/drawingml/2006/main">
            <a:off x="609600" y="64198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2697B"/>
                </a:solidFill>
                <a:latin typeface="Arial"/>
                <a:ea typeface="Arial"/>
                <a:cs typeface="Arial"/>
              </a:defRPr>
            </a:defPPr>
          </a:lstStyle>
          <a:p xmlns:a="http://schemas.openxmlformats.org/drawingml/2006/main">
            <a:pPr>
              <a:defRPr sz="1200" b="0">
                <a:solidFill>
                  <a:srgbClr val="52697B"/>
                </a:solidFill>
                <a:latin typeface="Arial"/>
                <a:ea typeface="Arial"/>
                <a:cs typeface="Arial"/>
              </a:defRPr>
            </a:pPr>
            <a:r>
              <a:rPr sz="1200" b="0">
                <a:solidFill>
                  <a:srgbClr val="52697B"/>
                </a:solidFill>
                <a:latin typeface="Arial"/>
                <a:ea typeface="Arial"/>
                <a:cs typeface="Arial"/>
              </a:rPr>
              <a:t>03  |  REVIEW 3 · HR KNOWLEDGE ASSISTANT</a:t>
            </a:r>
          </a:p>
        </p:txBody>
      </p:sp>
      <p:sp>
        <p:nvSpPr>
          <p:cNvPr id="3" name="">
            <a:extLst xmlns:a="http://schemas.openxmlformats.org/drawingml/2006/main">
              <a:ext uri="{FF2B5EF4-FFF2-40B4-BE49-F238E27FC236}">
                <a16:creationId xmlns:a16="http://schemas.microsoft.com/office/drawing/2014/main" id="{0067E789-D1FD-4E74-A10B-B5562C9FB46C}"/>
              </a:ext>
            </a:extLst>
          </p:cNvPr>
          <p:cNvSpPr>
            <a:spLocks xmlns:a="http://schemas.openxmlformats.org/drawingml/2006/main" noGrp="1"/>
          </p:cNvSpPr>
          <p:nvPr/>
        </p:nvSpPr>
        <p:spPr>
          <a:xfrm xmlns:a="http://schemas.openxmlformats.org/drawingml/2006/main">
            <a:off x="666750" y="1524000"/>
            <a:ext cx="1047750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4324A"/>
                </a:solidFill>
                <a:latin typeface="Arial"/>
                <a:ea typeface="Arial"/>
                <a:cs typeface="Arial"/>
              </a:defRPr>
            </a:defPPr>
          </a:lstStyle>
          <a:p xmlns:a="http://schemas.openxmlformats.org/drawingml/2006/main">
            <a:pPr>
              <a:defRPr sz="2100" b="0">
                <a:solidFill>
                  <a:srgbClr val="14324A"/>
                </a:solidFill>
                <a:latin typeface="Arial"/>
                <a:ea typeface="Arial"/>
                <a:cs typeface="Arial"/>
              </a:defRPr>
            </a:pPr>
            <a:r>
              <a:rPr sz="2100" b="0">
                <a:solidFill>
                  <a:srgbClr val="14324A"/>
                </a:solidFill>
                <a:latin typeface="Arial"/>
                <a:ea typeface="Arial"/>
                <a:cs typeface="Arial"/>
              </a:rPr>
              <a:t>Does learned stopping change local retrieval effort?</a:t>
            </a:r>
          </a:p>
        </p:txBody>
      </p:sp>
      <p:sp>
        <p:nvSpPr>
          <p:cNvPr id="4" name="">
            <a:extLst xmlns:a="http://schemas.openxmlformats.org/drawingml/2006/main">
              <a:ext uri="{FF2B5EF4-FFF2-40B4-BE49-F238E27FC236}">
                <a16:creationId xmlns:a16="http://schemas.microsoft.com/office/drawing/2014/main" id="{44E4B040-E647-4DF5-B5F1-C4A951DA3BDC}"/>
              </a:ext>
            </a:extLst>
          </p:cNvPr>
          <p:cNvSpPr>
            <a:spLocks xmlns:a="http://schemas.openxmlformats.org/drawingml/2006/main" noGrp="1"/>
          </p:cNvSpPr>
          <p:nvPr/>
        </p:nvSpPr>
        <p:spPr>
          <a:xfrm xmlns:a="http://schemas.openxmlformats.org/drawingml/2006/main">
            <a:off x="666750" y="2524125"/>
            <a:ext cx="1047750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4324A"/>
                </a:solidFill>
                <a:latin typeface="Arial"/>
                <a:ea typeface="Arial"/>
                <a:cs typeface="Arial"/>
              </a:defRPr>
            </a:defPPr>
          </a:lstStyle>
          <a:p xmlns:a="http://schemas.openxmlformats.org/drawingml/2006/main">
            <a:pPr>
              <a:defRPr sz="2100" b="0">
                <a:solidFill>
                  <a:srgbClr val="14324A"/>
                </a:solidFill>
                <a:latin typeface="Arial"/>
                <a:ea typeface="Arial"/>
                <a:cs typeface="Arial"/>
              </a:defRPr>
            </a:pPr>
            <a:r>
              <a:rPr sz="2100" b="0">
                <a:solidFill>
                  <a:srgbClr val="14324A"/>
                </a:solidFill>
                <a:latin typeface="Arial"/>
                <a:ea typeface="Arial"/>
                <a:cs typeface="Arial"/>
              </a:rPr>
              <a:t>Can it preserve independently assessed answer correctness and source support?</a:t>
            </a:r>
          </a:p>
        </p:txBody>
      </p:sp>
      <p:sp>
        <p:nvSpPr>
          <p:cNvPr id="5" name="">
            <a:extLst xmlns:a="http://schemas.openxmlformats.org/drawingml/2006/main">
              <a:ext uri="{FF2B5EF4-FFF2-40B4-BE49-F238E27FC236}">
                <a16:creationId xmlns:a16="http://schemas.microsoft.com/office/drawing/2014/main" id="{8CA20D8C-FDA7-4E73-8473-140EE5AC7A5C}"/>
              </a:ext>
            </a:extLst>
          </p:cNvPr>
          <p:cNvSpPr>
            <a:spLocks xmlns:a="http://schemas.openxmlformats.org/drawingml/2006/main" noGrp="1"/>
          </p:cNvSpPr>
          <p:nvPr/>
        </p:nvSpPr>
        <p:spPr>
          <a:xfrm xmlns:a="http://schemas.openxmlformats.org/drawingml/2006/main">
            <a:off x="666750" y="3524250"/>
            <a:ext cx="1047750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4324A"/>
                </a:solidFill>
                <a:latin typeface="Arial"/>
                <a:ea typeface="Arial"/>
                <a:cs typeface="Arial"/>
              </a:defRPr>
            </a:defPPr>
          </a:lstStyle>
          <a:p xmlns:a="http://schemas.openxmlformats.org/drawingml/2006/main">
            <a:pPr>
              <a:defRPr sz="2100" b="0">
                <a:solidFill>
                  <a:srgbClr val="14324A"/>
                </a:solidFill>
                <a:latin typeface="Arial"/>
                <a:ea typeface="Arial"/>
                <a:cs typeface="Arial"/>
              </a:defRPr>
            </a:pPr>
            <a:r>
              <a:rPr sz="2100" b="0">
                <a:solidFill>
                  <a:srgbClr val="14324A"/>
                </a:solidFill>
                <a:latin typeface="Arial"/>
                <a:ea typeface="Arial"/>
                <a:cs typeface="Arial"/>
              </a:rPr>
              <a:t>Do resolver, context selection and evidence gates help independently?</a:t>
            </a:r>
          </a:p>
        </p:txBody>
      </p:sp>
      <p:sp>
        <p:nvSpPr>
          <p:cNvPr id="6" name="">
            <a:extLst xmlns:a="http://schemas.openxmlformats.org/drawingml/2006/main">
              <a:ext uri="{FF2B5EF4-FFF2-40B4-BE49-F238E27FC236}">
                <a16:creationId xmlns:a16="http://schemas.microsoft.com/office/drawing/2014/main" id="{686646A5-6E5C-4970-A206-A83305FFE43C}"/>
              </a:ext>
            </a:extLst>
          </p:cNvPr>
          <p:cNvSpPr>
            <a:spLocks xmlns:a="http://schemas.openxmlformats.org/drawingml/2006/main" noGrp="1"/>
          </p:cNvSpPr>
          <p:nvPr/>
        </p:nvSpPr>
        <p:spPr>
          <a:xfrm xmlns:a="http://schemas.openxmlformats.org/drawingml/2006/main">
            <a:off x="666750" y="4524375"/>
            <a:ext cx="1047750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4324A"/>
                </a:solidFill>
                <a:latin typeface="Arial"/>
                <a:ea typeface="Arial"/>
                <a:cs typeface="Arial"/>
              </a:defRPr>
            </a:defPPr>
          </a:lstStyle>
          <a:p xmlns:a="http://schemas.openxmlformats.org/drawingml/2006/main">
            <a:pPr>
              <a:defRPr sz="2100" b="0">
                <a:solidFill>
                  <a:srgbClr val="14324A"/>
                </a:solidFill>
                <a:latin typeface="Arial"/>
                <a:ea typeface="Arial"/>
                <a:cs typeface="Arial"/>
              </a:defRPr>
            </a:pPr>
            <a:r>
              <a:rPr sz="2100" b="0">
                <a:solidFill>
                  <a:srgbClr val="14324A"/>
                </a:solidFill>
                <a:latin typeface="Arial"/>
                <a:ea typeface="Arial"/>
                <a:cs typeface="Arial"/>
              </a:rPr>
              <a:t>Does actual external API usage change?</a:t>
            </a:r>
          </a:p>
        </p:txBody>
      </p:sp>
    </p:spTree>
    <p:extLst>
      <p:ext uri="{BB962C8B-B14F-4D97-AF65-F5344CB8AC3E}">
        <p14:creationId xmlns:p14="http://schemas.microsoft.com/office/powerpoint/2010/main" val="1833837297"/>
      </p:ext>
    </p:extLst>
  </p:cSld>
</p:sld>
</file>

<file path=ppt/slides/slide4.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F7C6681-1DFF-4F72-84E5-4F79FC770305}"/>
              </a:ext>
            </a:extLst>
          </p:cNvPr>
          <p:cNvSpPr>
            <a:spLocks xmlns:a="http://schemas.openxmlformats.org/drawingml/2006/main" noGrp="1"/>
          </p:cNvSpPr>
          <p:nvPr/>
        </p:nvSpPr>
        <p:spPr>
          <a:xfrm xmlns:a="http://schemas.openxmlformats.org/drawingml/2006/main">
            <a:off x="609600" y="409575"/>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000" b="1">
                <a:solidFill>
                  <a:srgbClr val="14324A"/>
                </a:solidFill>
                <a:latin typeface="Arial"/>
                <a:ea typeface="Arial"/>
                <a:cs typeface="Arial"/>
              </a:defRPr>
            </a:defPPr>
          </a:lstStyle>
          <a:p xmlns:a="http://schemas.openxmlformats.org/drawingml/2006/main">
            <a:pPr>
              <a:defRPr sz="3000" b="1">
                <a:solidFill>
                  <a:srgbClr val="14324A"/>
                </a:solidFill>
                <a:latin typeface="Arial"/>
                <a:ea typeface="Arial"/>
                <a:cs typeface="Arial"/>
              </a:defRPr>
            </a:pPr>
            <a:r>
              <a:rPr sz="3000" b="1">
                <a:solidFill>
                  <a:srgbClr val="14324A"/>
                </a:solidFill>
                <a:latin typeface="Arial"/>
                <a:ea typeface="Arial"/>
                <a:cs typeface="Arial"/>
              </a:rPr>
              <a:t>Architecture: stopping and authorization are distinct</a:t>
            </a:r>
          </a:p>
        </p:txBody>
      </p:sp>
      <p:sp>
        <p:nvSpPr>
          <p:cNvPr id="2" name="">
            <a:extLst xmlns:a="http://schemas.openxmlformats.org/drawingml/2006/main">
              <a:ext uri="{FF2B5EF4-FFF2-40B4-BE49-F238E27FC236}">
                <a16:creationId xmlns:a16="http://schemas.microsoft.com/office/drawing/2014/main" id="{357768A1-13DA-4990-BE05-082626DE11DE}"/>
              </a:ext>
            </a:extLst>
          </p:cNvPr>
          <p:cNvSpPr>
            <a:spLocks xmlns:a="http://schemas.openxmlformats.org/drawingml/2006/main" noGrp="1"/>
          </p:cNvSpPr>
          <p:nvPr/>
        </p:nvSpPr>
        <p:spPr>
          <a:xfrm xmlns:a="http://schemas.openxmlformats.org/drawingml/2006/main">
            <a:off x="609600" y="64198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2697B"/>
                </a:solidFill>
                <a:latin typeface="Arial"/>
                <a:ea typeface="Arial"/>
                <a:cs typeface="Arial"/>
              </a:defRPr>
            </a:defPPr>
          </a:lstStyle>
          <a:p xmlns:a="http://schemas.openxmlformats.org/drawingml/2006/main">
            <a:pPr>
              <a:defRPr sz="1200" b="0">
                <a:solidFill>
                  <a:srgbClr val="52697B"/>
                </a:solidFill>
                <a:latin typeface="Arial"/>
                <a:ea typeface="Arial"/>
                <a:cs typeface="Arial"/>
              </a:defRPr>
            </a:pPr>
            <a:r>
              <a:rPr sz="1200" b="0">
                <a:solidFill>
                  <a:srgbClr val="52697B"/>
                </a:solidFill>
                <a:latin typeface="Arial"/>
                <a:ea typeface="Arial"/>
                <a:cs typeface="Arial"/>
              </a:rPr>
              <a:t>04  |  REVIEW 3 · HR KNOWLEDGE ASSISTANT</a:t>
            </a:r>
          </a:p>
        </p:txBody>
      </p:sp>
      <p:graphicFrame>
        <p:nvGraphicFramePr>
          <p:cNvPr id="3" name="">
            <a:extLst xmlns:a="http://schemas.openxmlformats.org/drawingml/2006/main">
              <a:ext uri="{FF2B5EF4-FFF2-40B4-BE49-F238E27FC236}">
                <a16:creationId xmlns:a16="http://schemas.microsoft.com/office/drawing/2014/main" id="{FCDE95E9-06D9-4CFE-85A7-3B936155BC25}"/>
              </a:ext>
            </a:extLst>
          </p:cNvPr>
          <p:cNvGraphicFramePr/>
          <p:nvPr/>
        </p:nvGraphicFramePr>
        <p:xfrm>
          <a:off xmlns:a="http://schemas.openxmlformats.org/drawingml/2006/main" x="609600" y="1571625"/>
          <a:ext xmlns:a="http://schemas.openxmlformats.org/drawingml/2006/main" cx="10972800" cy="3600450"/>
        </p:xfrm>
        <a:graphic xmlns:a="http://schemas.openxmlformats.org/drawingml/2006/main">
          <a:graphicData uri="http://schemas.openxmlformats.org/drawingml/2006/table">
            <a:tbl>
              <a:tblPr/>
              <a:tblGrid>
                <a:gridCol w="2762250"/>
                <a:gridCol w="8210550"/>
              </a:tblGrid>
              <a:tr h="600075">
                <a:tc>
                  <a:txBody>
                    <a:bodyPr/>
                    <a:lstStyle/>
                    <a:p>
                      <a:r>
                        <a:rPr sz="1725" b="1">
                          <a:solidFill>
                            <a:srgbClr val="FFFFFF"/>
                          </a:solidFill>
                          <a:latin typeface="Arial"/>
                          <a:ea typeface="Arial"/>
                          <a:cs typeface="Arial"/>
                        </a:rPr>
                        <a:t>Stage</a:t>
                      </a:r>
                    </a:p>
                  </a:txBody>
                  <a:tcPr marL="91440" marR="91440" marT="45720" marB="45720">
                    <a:solidFill>
                      <a:srgbClr val="10283D"/>
                    </a:solidFill>
                  </a:tcPr>
                </a:tc>
                <a:tc>
                  <a:txBody>
                    <a:bodyPr/>
                    <a:lstStyle/>
                    <a:p>
                      <a:r>
                        <a:rPr sz="1725" b="1">
                          <a:solidFill>
                            <a:srgbClr val="FFFFFF"/>
                          </a:solidFill>
                          <a:latin typeface="Arial"/>
                          <a:ea typeface="Arial"/>
                          <a:cs typeface="Arial"/>
                        </a:rPr>
                        <a:t>Implementation / responsibility</a:t>
                      </a:r>
                    </a:p>
                  </a:txBody>
                  <a:tcPr marL="91440" marR="91440" marT="45720" marB="45720">
                    <a:solidFill>
                      <a:srgbClr val="10283D"/>
                    </a:solidFill>
                  </a:tcPr>
                </a:tc>
              </a:tr>
              <a:tr h="600075">
                <a:tc>
                  <a:txBody>
                    <a:bodyPr/>
                    <a:lstStyle/>
                    <a:p>
                      <a:r>
                        <a:rPr sz="1800" b="0">
                          <a:solidFill>
                            <a:srgbClr val="14324A"/>
                          </a:solidFill>
                          <a:latin typeface="Arial"/>
                          <a:ea typeface="Arial"/>
                          <a:cs typeface="Arial"/>
                        </a:rPr>
                        <a:t>Authenticate</a:t>
                      </a:r>
                    </a:p>
                  </a:txBody>
                  <a:tcPr marL="91440" marR="91440" marT="45720" marB="45720">
                    <a:solidFill>
                      <a:srgbClr val="FFFFFF"/>
                    </a:solidFill>
                  </a:tcPr>
                </a:tc>
                <a:tc>
                  <a:txBody>
                    <a:bodyPr/>
                    <a:lstStyle/>
                    <a:p>
                      <a:r>
                        <a:rPr sz="1800" b="0">
                          <a:solidFill>
                            <a:srgbClr val="14324A"/>
                          </a:solidFill>
                          <a:latin typeface="Arial"/>
                          <a:ea typeface="Arial"/>
                          <a:cs typeface="Arial"/>
                        </a:rPr>
                        <a:t>Existing JWT + protected FastAPI /ask</a:t>
                      </a:r>
                    </a:p>
                  </a:txBody>
                  <a:tcPr marL="91440" marR="91440" marT="45720" marB="45720">
                    <a:solidFill>
                      <a:srgbClr val="FFFFFF"/>
                    </a:solidFill>
                  </a:tcPr>
                </a:tc>
              </a:tr>
              <a:tr h="600075">
                <a:tc>
                  <a:txBody>
                    <a:bodyPr/>
                    <a:lstStyle/>
                    <a:p>
                      <a:r>
                        <a:rPr sz="1800" b="0">
                          <a:solidFill>
                            <a:srgbClr val="14324A"/>
                          </a:solidFill>
                          <a:latin typeface="Arial"/>
                          <a:ea typeface="Arial"/>
                          <a:cs typeface="Arial"/>
                        </a:rPr>
                        <a:t>Resolve &amp; retrieve</a:t>
                      </a:r>
                    </a:p>
                  </a:txBody>
                  <a:tcPr marL="91440" marR="91440" marT="45720" marB="45720">
                    <a:solidFill>
                      <a:srgbClr val="EAF2F5"/>
                    </a:solidFill>
                  </a:tcPr>
                </a:tc>
                <a:tc>
                  <a:txBody>
                    <a:bodyPr/>
                    <a:lstStyle/>
                    <a:p>
                      <a:r>
                        <a:rPr sz="1800" b="0">
                          <a:solidFill>
                            <a:srgbClr val="14324A"/>
                          </a:solidFill>
                          <a:latin typeface="Arial"/>
                          <a:ea typeface="Arial"/>
                          <a:cs typeface="Arial"/>
                        </a:rPr>
                        <a:t>Verified acronyms; Chroma corpus; local rewrites</a:t>
                      </a:r>
                    </a:p>
                  </a:txBody>
                  <a:tcPr marL="91440" marR="91440" marT="45720" marB="45720">
                    <a:solidFill>
                      <a:srgbClr val="EAF2F5"/>
                    </a:solidFill>
                  </a:tcPr>
                </a:tc>
              </a:tr>
              <a:tr h="600075">
                <a:tc>
                  <a:txBody>
                    <a:bodyPr/>
                    <a:lstStyle/>
                    <a:p>
                      <a:r>
                        <a:rPr sz="1800" b="0">
                          <a:solidFill>
                            <a:srgbClr val="14324A"/>
                          </a:solidFill>
                          <a:latin typeface="Arial"/>
                          <a:ea typeface="Arial"/>
                          <a:cs typeface="Arial"/>
                        </a:rPr>
                        <a:t>Stop / continue</a:t>
                      </a:r>
                    </a:p>
                  </a:txBody>
                  <a:tcPr marL="91440" marR="91440" marT="45720" marB="45720">
                    <a:solidFill>
                      <a:srgbClr val="FFFFFF"/>
                    </a:solidFill>
                  </a:tcPr>
                </a:tc>
                <a:tc>
                  <a:txBody>
                    <a:bodyPr/>
                    <a:lstStyle/>
                    <a:p>
                      <a:r>
                        <a:rPr sz="1800" b="0">
                          <a:solidFill>
                            <a:srgbClr val="14324A"/>
                          </a:solidFill>
                          <a:latin typeface="Arial"/>
                          <a:ea typeface="Arial"/>
                          <a:cs typeface="Arial"/>
                        </a:rPr>
                        <a:t>Four-feature Logistic Regression; maximum 3 attempts</a:t>
                      </a:r>
                    </a:p>
                  </a:txBody>
                  <a:tcPr marL="91440" marR="91440" marT="45720" marB="45720">
                    <a:solidFill>
                      <a:srgbClr val="FFFFFF"/>
                    </a:solidFill>
                  </a:tcPr>
                </a:tc>
              </a:tr>
              <a:tr h="600075">
                <a:tc>
                  <a:txBody>
                    <a:bodyPr/>
                    <a:lstStyle/>
                    <a:p>
                      <a:r>
                        <a:rPr sz="1800" b="0">
                          <a:solidFill>
                            <a:srgbClr val="14324A"/>
                          </a:solidFill>
                          <a:latin typeface="Arial"/>
                          <a:ea typeface="Arial"/>
                          <a:cs typeface="Arial"/>
                        </a:rPr>
                        <a:t>Authorize answer</a:t>
                      </a:r>
                    </a:p>
                  </a:txBody>
                  <a:tcPr marL="91440" marR="91440" marT="45720" marB="45720">
                    <a:solidFill>
                      <a:srgbClr val="EAF2F5"/>
                    </a:solidFill>
                  </a:tcPr>
                </a:tc>
                <a:tc>
                  <a:txBody>
                    <a:bodyPr/>
                    <a:lstStyle/>
                    <a:p>
                      <a:r>
                        <a:rPr sz="1800" b="0">
                          <a:solidFill>
                            <a:srgbClr val="14324A"/>
                          </a:solidFill>
                          <a:latin typeface="Arial"/>
                          <a:ea typeface="Arial"/>
                          <a:cs typeface="Arial"/>
                        </a:rPr>
                        <a:t>Evidence gate + narrow source-specific validators</a:t>
                      </a:r>
                    </a:p>
                  </a:txBody>
                  <a:tcPr marL="91440" marR="91440" marT="45720" marB="45720">
                    <a:solidFill>
                      <a:srgbClr val="EAF2F5"/>
                    </a:solidFill>
                  </a:tcPr>
                </a:tc>
              </a:tr>
              <a:tr h="600075">
                <a:tc>
                  <a:txBody>
                    <a:bodyPr/>
                    <a:lstStyle/>
                    <a:p>
                      <a:r>
                        <a:rPr sz="1800" b="0">
                          <a:solidFill>
                            <a:srgbClr val="14324A"/>
                          </a:solidFill>
                          <a:latin typeface="Arial"/>
                          <a:ea typeface="Arial"/>
                          <a:cs typeface="Arial"/>
                        </a:rPr>
                        <a:t>Respond</a:t>
                      </a:r>
                    </a:p>
                  </a:txBody>
                  <a:tcPr marL="91440" marR="91440" marT="45720" marB="45720">
                    <a:solidFill>
                      <a:srgbClr val="FFFFFF"/>
                    </a:solidFill>
                  </a:tcPr>
                </a:tc>
                <a:tc>
                  <a:txBody>
                    <a:bodyPr/>
                    <a:lstStyle/>
                    <a:p>
                      <a:r>
                        <a:rPr sz="1800" b="0">
                          <a:solidFill>
                            <a:srgbClr val="14324A"/>
                          </a:solidFill>
                          <a:latin typeface="Arial"/>
                          <a:ea typeface="Arial"/>
                          <a:cs typeface="Arial"/>
                        </a:rPr>
                        <a:t>Local verified rule, final Gemini generation or abstention</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638571152"/>
      </p:ext>
    </p:extLst>
  </p:cSld>
</p:sld>
</file>

<file path=ppt/slides/slide5.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FEE29B9-1920-4FCC-A607-98F8F7F73834}"/>
              </a:ext>
            </a:extLst>
          </p:cNvPr>
          <p:cNvSpPr>
            <a:spLocks xmlns:a="http://schemas.openxmlformats.org/drawingml/2006/main" noGrp="1"/>
          </p:cNvSpPr>
          <p:nvPr/>
        </p:nvSpPr>
        <p:spPr>
          <a:xfrm xmlns:a="http://schemas.openxmlformats.org/drawingml/2006/main">
            <a:off x="609600" y="409575"/>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000" b="1">
                <a:solidFill>
                  <a:srgbClr val="14324A"/>
                </a:solidFill>
                <a:latin typeface="Arial"/>
                <a:ea typeface="Arial"/>
                <a:cs typeface="Arial"/>
              </a:defRPr>
            </a:defPPr>
          </a:lstStyle>
          <a:p xmlns:a="http://schemas.openxmlformats.org/drawingml/2006/main">
            <a:pPr>
              <a:defRPr sz="3000" b="1">
                <a:solidFill>
                  <a:srgbClr val="14324A"/>
                </a:solidFill>
                <a:latin typeface="Arial"/>
                <a:ea typeface="Arial"/>
                <a:cs typeface="Arial"/>
              </a:defRPr>
            </a:pPr>
            <a:r>
              <a:rPr sz="3000" b="1">
                <a:solidFill>
                  <a:srgbClr val="14324A"/>
                </a:solidFill>
                <a:latin typeface="Arial"/>
                <a:ea typeface="Arial"/>
                <a:cs typeface="Arial"/>
              </a:rPr>
              <a:t>Four features; one preserved classifier</a:t>
            </a:r>
          </a:p>
        </p:txBody>
      </p:sp>
      <p:sp>
        <p:nvSpPr>
          <p:cNvPr id="2" name="">
            <a:extLst xmlns:a="http://schemas.openxmlformats.org/drawingml/2006/main">
              <a:ext uri="{FF2B5EF4-FFF2-40B4-BE49-F238E27FC236}">
                <a16:creationId xmlns:a16="http://schemas.microsoft.com/office/drawing/2014/main" id="{170AD187-7F58-47A7-AEE1-0313192BC984}"/>
              </a:ext>
            </a:extLst>
          </p:cNvPr>
          <p:cNvSpPr>
            <a:spLocks xmlns:a="http://schemas.openxmlformats.org/drawingml/2006/main" noGrp="1"/>
          </p:cNvSpPr>
          <p:nvPr/>
        </p:nvSpPr>
        <p:spPr>
          <a:xfrm xmlns:a="http://schemas.openxmlformats.org/drawingml/2006/main">
            <a:off x="609600" y="64198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2697B"/>
                </a:solidFill>
                <a:latin typeface="Arial"/>
                <a:ea typeface="Arial"/>
                <a:cs typeface="Arial"/>
              </a:defRPr>
            </a:defPPr>
          </a:lstStyle>
          <a:p xmlns:a="http://schemas.openxmlformats.org/drawingml/2006/main">
            <a:pPr>
              <a:defRPr sz="1200" b="0">
                <a:solidFill>
                  <a:srgbClr val="52697B"/>
                </a:solidFill>
                <a:latin typeface="Arial"/>
                <a:ea typeface="Arial"/>
                <a:cs typeface="Arial"/>
              </a:defRPr>
            </a:pPr>
            <a:r>
              <a:rPr sz="1200" b="0">
                <a:solidFill>
                  <a:srgbClr val="52697B"/>
                </a:solidFill>
                <a:latin typeface="Arial"/>
                <a:ea typeface="Arial"/>
                <a:cs typeface="Arial"/>
              </a:rPr>
              <a:t>05  |  REVIEW 3 · HR KNOWLEDGE ASSISTANT</a:t>
            </a:r>
          </a:p>
        </p:txBody>
      </p:sp>
      <p:graphicFrame>
        <p:nvGraphicFramePr>
          <p:cNvPr id="3" name="">
            <a:extLst xmlns:a="http://schemas.openxmlformats.org/drawingml/2006/main">
              <a:ext uri="{FF2B5EF4-FFF2-40B4-BE49-F238E27FC236}">
                <a16:creationId xmlns:a16="http://schemas.microsoft.com/office/drawing/2014/main" id="{F6EF906E-046A-4D69-BC96-456211BF2498}"/>
              </a:ext>
            </a:extLst>
          </p:cNvPr>
          <p:cNvGraphicFramePr/>
          <p:nvPr/>
        </p:nvGraphicFramePr>
        <p:xfrm>
          <a:off xmlns:a="http://schemas.openxmlformats.org/drawingml/2006/main" x="609600" y="1714500"/>
          <a:ext xmlns:a="http://schemas.openxmlformats.org/drawingml/2006/main" cx="10972800" cy="3000375"/>
        </p:xfrm>
        <a:graphic xmlns:a="http://schemas.openxmlformats.org/drawingml/2006/main">
          <a:graphicData uri="http://schemas.openxmlformats.org/drawingml/2006/table">
            <a:tbl>
              <a:tblPr/>
              <a:tblGrid>
                <a:gridCol w="3238500"/>
                <a:gridCol w="7734300"/>
              </a:tblGrid>
              <a:tr h="600075">
                <a:tc>
                  <a:txBody>
                    <a:bodyPr/>
                    <a:lstStyle/>
                    <a:p>
                      <a:r>
                        <a:rPr sz="1725" b="1">
                          <a:solidFill>
                            <a:srgbClr val="FFFFFF"/>
                          </a:solidFill>
                          <a:latin typeface="Arial"/>
                          <a:ea typeface="Arial"/>
                          <a:cs typeface="Arial"/>
                        </a:rPr>
                        <a:t>Feature</a:t>
                      </a:r>
                    </a:p>
                  </a:txBody>
                  <a:tcPr marL="91440" marR="91440" marT="45720" marB="45720">
                    <a:solidFill>
                      <a:srgbClr val="10283D"/>
                    </a:solidFill>
                  </a:tcPr>
                </a:tc>
                <a:tc>
                  <a:txBody>
                    <a:bodyPr/>
                    <a:lstStyle/>
                    <a:p>
                      <a:r>
                        <a:rPr sz="1725" b="1">
                          <a:solidFill>
                            <a:srgbClr val="FFFFFF"/>
                          </a:solidFill>
                          <a:latin typeface="Arial"/>
                          <a:ea typeface="Arial"/>
                          <a:cs typeface="Arial"/>
                        </a:rPr>
                        <a:t>Meaning</a:t>
                      </a:r>
                    </a:p>
                  </a:txBody>
                  <a:tcPr marL="91440" marR="91440" marT="45720" marB="45720">
                    <a:solidFill>
                      <a:srgbClr val="10283D"/>
                    </a:solidFill>
                  </a:tcPr>
                </a:tc>
              </a:tr>
              <a:tr h="600075">
                <a:tc>
                  <a:txBody>
                    <a:bodyPr/>
                    <a:lstStyle/>
                    <a:p>
                      <a:r>
                        <a:rPr sz="1800" b="0">
                          <a:solidFill>
                            <a:srgbClr val="14324A"/>
                          </a:solidFill>
                          <a:latin typeface="Arial"/>
                          <a:ea typeface="Arial"/>
                          <a:cs typeface="Arial"/>
                        </a:rPr>
                        <a:t>Attempt</a:t>
                      </a:r>
                    </a:p>
                  </a:txBody>
                  <a:tcPr marL="91440" marR="91440" marT="45720" marB="45720">
                    <a:solidFill>
                      <a:srgbClr val="FFFFFF"/>
                    </a:solidFill>
                  </a:tcPr>
                </a:tc>
                <a:tc>
                  <a:txBody>
                    <a:bodyPr/>
                    <a:lstStyle/>
                    <a:p>
                      <a:r>
                        <a:rPr sz="1800" b="0">
                          <a:solidFill>
                            <a:srgbClr val="14324A"/>
                          </a:solidFill>
                          <a:latin typeface="Arial"/>
                          <a:ea typeface="Arial"/>
                          <a:cs typeface="Arial"/>
                        </a:rPr>
                        <a:t>Current retrieval iteration</a:t>
                      </a:r>
                    </a:p>
                  </a:txBody>
                  <a:tcPr marL="91440" marR="91440" marT="45720" marB="45720">
                    <a:solidFill>
                      <a:srgbClr val="FFFFFF"/>
                    </a:solidFill>
                  </a:tcPr>
                </a:tc>
              </a:tr>
              <a:tr h="600075">
                <a:tc>
                  <a:txBody>
                    <a:bodyPr/>
                    <a:lstStyle/>
                    <a:p>
                      <a:r>
                        <a:rPr sz="1800" b="0">
                          <a:solidFill>
                            <a:srgbClr val="14324A"/>
                          </a:solidFill>
                          <a:latin typeface="Arial"/>
                          <a:ea typeface="Arial"/>
                          <a:cs typeface="Arial"/>
                        </a:rPr>
                        <a:t>Current score</a:t>
                      </a:r>
                    </a:p>
                  </a:txBody>
                  <a:tcPr marL="91440" marR="91440" marT="45720" marB="45720">
                    <a:solidFill>
                      <a:srgbClr val="EAF2F5"/>
                    </a:solidFill>
                  </a:tcPr>
                </a:tc>
                <a:tc>
                  <a:txBody>
                    <a:bodyPr/>
                    <a:lstStyle/>
                    <a:p>
                      <a:r>
                        <a:rPr sz="1800" b="0">
                          <a:solidFill>
                            <a:srgbClr val="14324A"/>
                          </a:solidFill>
                          <a:latin typeface="Arial"/>
                          <a:ea typeface="Arial"/>
                          <a:cs typeface="Arial"/>
                        </a:rPr>
                        <a:t>Semantic / keyword critic score</a:t>
                      </a:r>
                    </a:p>
                  </a:txBody>
                  <a:tcPr marL="91440" marR="91440" marT="45720" marB="45720">
                    <a:solidFill>
                      <a:srgbClr val="EAF2F5"/>
                    </a:solidFill>
                  </a:tcPr>
                </a:tc>
              </a:tr>
              <a:tr h="600075">
                <a:tc>
                  <a:txBody>
                    <a:bodyPr/>
                    <a:lstStyle/>
                    <a:p>
                      <a:r>
                        <a:rPr sz="1800" b="0">
                          <a:solidFill>
                            <a:srgbClr val="14324A"/>
                          </a:solidFill>
                          <a:latin typeface="Arial"/>
                          <a:ea typeface="Arial"/>
                          <a:cs typeface="Arial"/>
                        </a:rPr>
                        <a:t>Best score</a:t>
                      </a:r>
                    </a:p>
                  </a:txBody>
                  <a:tcPr marL="91440" marR="91440" marT="45720" marB="45720">
                    <a:solidFill>
                      <a:srgbClr val="FFFFFF"/>
                    </a:solidFill>
                  </a:tcPr>
                </a:tc>
                <a:tc>
                  <a:txBody>
                    <a:bodyPr/>
                    <a:lstStyle/>
                    <a:p>
                      <a:r>
                        <a:rPr sz="1800" b="0">
                          <a:solidFill>
                            <a:srgbClr val="14324A"/>
                          </a:solidFill>
                          <a:latin typeface="Arial"/>
                          <a:ea typeface="Arial"/>
                          <a:cs typeface="Arial"/>
                        </a:rPr>
                        <a:t>Highest critic score observed so far</a:t>
                      </a:r>
                    </a:p>
                  </a:txBody>
                  <a:tcPr marL="91440" marR="91440" marT="45720" marB="45720">
                    <a:solidFill>
                      <a:srgbClr val="FFFFFF"/>
                    </a:solidFill>
                  </a:tcPr>
                </a:tc>
              </a:tr>
              <a:tr h="600075">
                <a:tc>
                  <a:txBody>
                    <a:bodyPr/>
                    <a:lstStyle/>
                    <a:p>
                      <a:r>
                        <a:rPr sz="1800" b="0">
                          <a:solidFill>
                            <a:srgbClr val="14324A"/>
                          </a:solidFill>
                          <a:latin typeface="Arial"/>
                          <a:ea typeface="Arial"/>
                          <a:cs typeface="Arial"/>
                        </a:rPr>
                        <a:t>Score delta</a:t>
                      </a:r>
                    </a:p>
                  </a:txBody>
                  <a:tcPr marL="91440" marR="91440" marT="45720" marB="45720">
                    <a:solidFill>
                      <a:srgbClr val="EAF2F5"/>
                    </a:solidFill>
                  </a:tcPr>
                </a:tc>
                <a:tc>
                  <a:txBody>
                    <a:bodyPr/>
                    <a:lstStyle/>
                    <a:p>
                      <a:r>
                        <a:rPr sz="1800" b="0">
                          <a:solidFill>
                            <a:srgbClr val="14324A"/>
                          </a:solidFill>
                          <a:latin typeface="Arial"/>
                          <a:ea typeface="Arial"/>
                          <a:cs typeface="Arial"/>
                        </a:rPr>
                        <a:t>Current score − previous best; first attempt = 0</a:t>
                      </a:r>
                    </a:p>
                  </a:txBody>
                  <a:tcPr marL="91440" marR="91440" marT="45720" marB="45720">
                    <a:solidFill>
                      <a:srgbClr val="EAF2F5"/>
                    </a:solidFill>
                  </a:tcPr>
                </a:tc>
              </a:tr>
            </a:tbl>
          </a:graphicData>
        </a:graphic>
      </p:graphicFrame>
    </p:spTree>
    <p:extLst>
      <p:ext uri="{BB962C8B-B14F-4D97-AF65-F5344CB8AC3E}">
        <p14:creationId xmlns:p14="http://schemas.microsoft.com/office/powerpoint/2010/main" val="1577560617"/>
      </p:ext>
    </p:extLst>
  </p:cSld>
</p:sld>
</file>

<file path=ppt/slides/slide6.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6815D03-A3BF-441B-A3B6-726D76B79A5F}"/>
              </a:ext>
            </a:extLst>
          </p:cNvPr>
          <p:cNvSpPr>
            <a:spLocks xmlns:a="http://schemas.openxmlformats.org/drawingml/2006/main" noGrp="1"/>
          </p:cNvSpPr>
          <p:nvPr/>
        </p:nvSpPr>
        <p:spPr>
          <a:xfrm xmlns:a="http://schemas.openxmlformats.org/drawingml/2006/main">
            <a:off x="609600" y="409575"/>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000" b="1">
                <a:solidFill>
                  <a:srgbClr val="14324A"/>
                </a:solidFill>
                <a:latin typeface="Arial"/>
                <a:ea typeface="Arial"/>
                <a:cs typeface="Arial"/>
              </a:defRPr>
            </a:defPPr>
          </a:lstStyle>
          <a:p xmlns:a="http://schemas.openxmlformats.org/drawingml/2006/main">
            <a:pPr>
              <a:defRPr sz="3000" b="1">
                <a:solidFill>
                  <a:srgbClr val="14324A"/>
                </a:solidFill>
                <a:latin typeface="Arial"/>
                <a:ea typeface="Arial"/>
                <a:cs typeface="Arial"/>
              </a:defRPr>
            </a:pPr>
            <a:r>
              <a:rPr sz="3000" b="1">
                <a:solidFill>
                  <a:srgbClr val="14324A"/>
                </a:solidFill>
                <a:latin typeface="Arial"/>
                <a:ea typeface="Arial"/>
                <a:cs typeface="Arial"/>
              </a:rPr>
              <a:t>A STOP prediction never proves an answer</a:t>
            </a:r>
          </a:p>
        </p:txBody>
      </p:sp>
      <p:sp>
        <p:nvSpPr>
          <p:cNvPr id="2" name="">
            <a:extLst xmlns:a="http://schemas.openxmlformats.org/drawingml/2006/main">
              <a:ext uri="{FF2B5EF4-FFF2-40B4-BE49-F238E27FC236}">
                <a16:creationId xmlns:a16="http://schemas.microsoft.com/office/drawing/2014/main" id="{2A65DAAC-DCB3-473B-BA30-4294BEDE862F}"/>
              </a:ext>
            </a:extLst>
          </p:cNvPr>
          <p:cNvSpPr>
            <a:spLocks xmlns:a="http://schemas.openxmlformats.org/drawingml/2006/main" noGrp="1"/>
          </p:cNvSpPr>
          <p:nvPr/>
        </p:nvSpPr>
        <p:spPr>
          <a:xfrm xmlns:a="http://schemas.openxmlformats.org/drawingml/2006/main">
            <a:off x="609600" y="64198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2697B"/>
                </a:solidFill>
                <a:latin typeface="Arial"/>
                <a:ea typeface="Arial"/>
                <a:cs typeface="Arial"/>
              </a:defRPr>
            </a:defPPr>
          </a:lstStyle>
          <a:p xmlns:a="http://schemas.openxmlformats.org/drawingml/2006/main">
            <a:pPr>
              <a:defRPr sz="1200" b="0">
                <a:solidFill>
                  <a:srgbClr val="52697B"/>
                </a:solidFill>
                <a:latin typeface="Arial"/>
                <a:ea typeface="Arial"/>
                <a:cs typeface="Arial"/>
              </a:defRPr>
            </a:pPr>
            <a:r>
              <a:rPr sz="1200" b="0">
                <a:solidFill>
                  <a:srgbClr val="52697B"/>
                </a:solidFill>
                <a:latin typeface="Arial"/>
                <a:ea typeface="Arial"/>
                <a:cs typeface="Arial"/>
              </a:rPr>
              <a:t>06  |  REVIEW 3 · HR KNOWLEDGE ASSISTANT</a:t>
            </a:r>
          </a:p>
        </p:txBody>
      </p:sp>
      <p:sp>
        <p:nvSpPr>
          <p:cNvPr id="3" name="">
            <a:extLst xmlns:a="http://schemas.openxmlformats.org/drawingml/2006/main">
              <a:ext uri="{FF2B5EF4-FFF2-40B4-BE49-F238E27FC236}">
                <a16:creationId xmlns:a16="http://schemas.microsoft.com/office/drawing/2014/main" id="{1BEDA72B-34FB-4EC4-89B6-D8164BCC1C8E}"/>
              </a:ext>
            </a:extLst>
          </p:cNvPr>
          <p:cNvSpPr>
            <a:spLocks xmlns:a="http://schemas.openxmlformats.org/drawingml/2006/main" noGrp="1"/>
          </p:cNvSpPr>
          <p:nvPr/>
        </p:nvSpPr>
        <p:spPr>
          <a:xfrm xmlns:a="http://schemas.openxmlformats.org/drawingml/2006/main">
            <a:off x="666750" y="1524000"/>
            <a:ext cx="1047750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4324A"/>
                </a:solidFill>
                <a:latin typeface="Arial"/>
                <a:ea typeface="Arial"/>
                <a:cs typeface="Arial"/>
              </a:defRPr>
            </a:defPPr>
          </a:lstStyle>
          <a:p xmlns:a="http://schemas.openxmlformats.org/drawingml/2006/main">
            <a:pPr>
              <a:defRPr sz="2100" b="0">
                <a:solidFill>
                  <a:srgbClr val="14324A"/>
                </a:solidFill>
                <a:latin typeface="Arial"/>
                <a:ea typeface="Arial"/>
                <a:cs typeface="Arial"/>
              </a:defRPr>
            </a:pPr>
            <a:r>
              <a:rPr sz="2100" b="0">
                <a:solidFill>
                  <a:srgbClr val="14324A"/>
                </a:solidFill>
                <a:latin typeface="Arial"/>
                <a:ea typeface="Arial"/>
                <a:cs typeface="Arial"/>
              </a:rPr>
              <a:t>Critic threshold remains 0.75; the trained model is unchanged.</a:t>
            </a:r>
          </a:p>
        </p:txBody>
      </p:sp>
      <p:sp>
        <p:nvSpPr>
          <p:cNvPr id="4" name="">
            <a:extLst xmlns:a="http://schemas.openxmlformats.org/drawingml/2006/main">
              <a:ext uri="{FF2B5EF4-FFF2-40B4-BE49-F238E27FC236}">
                <a16:creationId xmlns:a16="http://schemas.microsoft.com/office/drawing/2014/main" id="{9F0F5B4A-A5E2-4997-84B5-EBDF86287E58}"/>
              </a:ext>
            </a:extLst>
          </p:cNvPr>
          <p:cNvSpPr>
            <a:spLocks xmlns:a="http://schemas.openxmlformats.org/drawingml/2006/main" noGrp="1"/>
          </p:cNvSpPr>
          <p:nvPr/>
        </p:nvSpPr>
        <p:spPr>
          <a:xfrm xmlns:a="http://schemas.openxmlformats.org/drawingml/2006/main">
            <a:off x="666750" y="2524125"/>
            <a:ext cx="1047750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4324A"/>
                </a:solidFill>
                <a:latin typeface="Arial"/>
                <a:ea typeface="Arial"/>
                <a:cs typeface="Arial"/>
              </a:defRPr>
            </a:defPPr>
          </a:lstStyle>
          <a:p xmlns:a="http://schemas.openxmlformats.org/drawingml/2006/main">
            <a:pPr>
              <a:defRPr sz="2100" b="0">
                <a:solidFill>
                  <a:srgbClr val="14324A"/>
                </a:solidFill>
                <a:latin typeface="Arial"/>
                <a:ea typeface="Arial"/>
                <a:cs typeface="Arial"/>
              </a:defRPr>
            </a:pPr>
            <a:r>
              <a:rPr sz="2100" b="0">
                <a:solidFill>
                  <a:srgbClr val="14324A"/>
                </a:solidFill>
                <a:latin typeface="Arial"/>
                <a:ea typeface="Arial"/>
                <a:cs typeface="Arial"/>
              </a:rPr>
              <a:t>Insufficient evidence remains blocked unless a narrow source rule verifies its exact claim.</a:t>
            </a:r>
          </a:p>
        </p:txBody>
      </p:sp>
      <p:sp>
        <p:nvSpPr>
          <p:cNvPr id="5" name="">
            <a:extLst xmlns:a="http://schemas.openxmlformats.org/drawingml/2006/main">
              <a:ext uri="{FF2B5EF4-FFF2-40B4-BE49-F238E27FC236}">
                <a16:creationId xmlns:a16="http://schemas.microsoft.com/office/drawing/2014/main" id="{297F0813-57D7-43EC-B368-35AA98604410}"/>
              </a:ext>
            </a:extLst>
          </p:cNvPr>
          <p:cNvSpPr>
            <a:spLocks xmlns:a="http://schemas.openxmlformats.org/drawingml/2006/main" noGrp="1"/>
          </p:cNvSpPr>
          <p:nvPr/>
        </p:nvSpPr>
        <p:spPr>
          <a:xfrm xmlns:a="http://schemas.openxmlformats.org/drawingml/2006/main">
            <a:off x="666750" y="3524250"/>
            <a:ext cx="1047750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4324A"/>
                </a:solidFill>
                <a:latin typeface="Arial"/>
                <a:ea typeface="Arial"/>
                <a:cs typeface="Arial"/>
              </a:defRPr>
            </a:defPPr>
          </a:lstStyle>
          <a:p xmlns:a="http://schemas.openxmlformats.org/drawingml/2006/main">
            <a:pPr>
              <a:defRPr sz="2100" b="0">
                <a:solidFill>
                  <a:srgbClr val="14324A"/>
                </a:solidFill>
                <a:latin typeface="Arial"/>
                <a:ea typeface="Arial"/>
                <a:cs typeface="Arial"/>
              </a:defRPr>
            </a:pPr>
            <a:r>
              <a:rPr sz="2100" b="0">
                <a:solidFill>
                  <a:srgbClr val="14324A"/>
                </a:solidFill>
                <a:latin typeface="Arial"/>
                <a:ea typeface="Arial"/>
                <a:cs typeface="Arial"/>
              </a:rPr>
              <a:t>Maternity eligibility and CL carry-forward use separate deterministic checks.</a:t>
            </a:r>
          </a:p>
        </p:txBody>
      </p:sp>
      <p:sp>
        <p:nvSpPr>
          <p:cNvPr id="6" name="">
            <a:extLst xmlns:a="http://schemas.openxmlformats.org/drawingml/2006/main">
              <a:ext uri="{FF2B5EF4-FFF2-40B4-BE49-F238E27FC236}">
                <a16:creationId xmlns:a16="http://schemas.microsoft.com/office/drawing/2014/main" id="{E546DA8E-F74E-4412-9A8D-7A04F9051F30}"/>
              </a:ext>
            </a:extLst>
          </p:cNvPr>
          <p:cNvSpPr>
            <a:spLocks xmlns:a="http://schemas.openxmlformats.org/drawingml/2006/main" noGrp="1"/>
          </p:cNvSpPr>
          <p:nvPr/>
        </p:nvSpPr>
        <p:spPr>
          <a:xfrm xmlns:a="http://schemas.openxmlformats.org/drawingml/2006/main">
            <a:off x="666750" y="4524375"/>
            <a:ext cx="1047750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4324A"/>
                </a:solidFill>
                <a:latin typeface="Arial"/>
                <a:ea typeface="Arial"/>
                <a:cs typeface="Arial"/>
              </a:defRPr>
            </a:defPPr>
          </a:lstStyle>
          <a:p xmlns:a="http://schemas.openxmlformats.org/drawingml/2006/main">
            <a:pPr>
              <a:defRPr sz="2100" b="0">
                <a:solidFill>
                  <a:srgbClr val="14324A"/>
                </a:solidFill>
                <a:latin typeface="Arial"/>
                <a:ea typeface="Arial"/>
                <a:cs typeface="Arial"/>
              </a:defRPr>
            </a:pPr>
            <a:r>
              <a:rPr sz="2100" b="0">
                <a:solidFill>
                  <a:srgbClr val="14324A"/>
                </a:solidFill>
                <a:latin typeface="Arial"/>
                <a:ea typeface="Arial"/>
                <a:cs typeface="Arial"/>
              </a:rPr>
              <a:t>P(STOP) is not answer confidence.</a:t>
            </a:r>
          </a:p>
        </p:txBody>
      </p:sp>
    </p:spTree>
    <p:extLst>
      <p:ext uri="{BB962C8B-B14F-4D97-AF65-F5344CB8AC3E}">
        <p14:creationId xmlns:p14="http://schemas.microsoft.com/office/powerpoint/2010/main" val="1677358135"/>
      </p:ext>
    </p:extLst>
  </p:cSld>
</p:sld>
</file>

<file path=ppt/slides/slide7.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AC58996-3107-47F4-8336-3EF7F412086F}"/>
              </a:ext>
            </a:extLst>
          </p:cNvPr>
          <p:cNvSpPr>
            <a:spLocks xmlns:a="http://schemas.openxmlformats.org/drawingml/2006/main" noGrp="1"/>
          </p:cNvSpPr>
          <p:nvPr/>
        </p:nvSpPr>
        <p:spPr>
          <a:xfrm xmlns:a="http://schemas.openxmlformats.org/drawingml/2006/main">
            <a:off x="609600" y="409575"/>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000" b="1">
                <a:solidFill>
                  <a:srgbClr val="14324A"/>
                </a:solidFill>
                <a:latin typeface="Arial"/>
                <a:ea typeface="Arial"/>
                <a:cs typeface="Arial"/>
              </a:defRPr>
            </a:defPPr>
          </a:lstStyle>
          <a:p xmlns:a="http://schemas.openxmlformats.org/drawingml/2006/main">
            <a:pPr>
              <a:defRPr sz="3000" b="1">
                <a:solidFill>
                  <a:srgbClr val="14324A"/>
                </a:solidFill>
                <a:latin typeface="Arial"/>
                <a:ea typeface="Arial"/>
                <a:cs typeface="Arial"/>
              </a:defRPr>
            </a:pPr>
            <a:r>
              <a:rPr sz="3000" b="1">
                <a:solidFill>
                  <a:srgbClr val="14324A"/>
                </a:solidFill>
                <a:latin typeface="Arial"/>
                <a:ea typeface="Arial"/>
                <a:cs typeface="Arial"/>
              </a:rPr>
              <a:t>A modern interface over the same API</a:t>
            </a:r>
          </a:p>
        </p:txBody>
      </p:sp>
      <p:sp>
        <p:nvSpPr>
          <p:cNvPr id="2" name="">
            <a:extLst xmlns:a="http://schemas.openxmlformats.org/drawingml/2006/main">
              <a:ext uri="{FF2B5EF4-FFF2-40B4-BE49-F238E27FC236}">
                <a16:creationId xmlns:a16="http://schemas.microsoft.com/office/drawing/2014/main" id="{F392D53A-C12E-4238-A942-18AC228123BF}"/>
              </a:ext>
            </a:extLst>
          </p:cNvPr>
          <p:cNvSpPr>
            <a:spLocks xmlns:a="http://schemas.openxmlformats.org/drawingml/2006/main" noGrp="1"/>
          </p:cNvSpPr>
          <p:nvPr/>
        </p:nvSpPr>
        <p:spPr>
          <a:xfrm xmlns:a="http://schemas.openxmlformats.org/drawingml/2006/main">
            <a:off x="609600" y="64198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2697B"/>
                </a:solidFill>
                <a:latin typeface="Arial"/>
                <a:ea typeface="Arial"/>
                <a:cs typeface="Arial"/>
              </a:defRPr>
            </a:defPPr>
          </a:lstStyle>
          <a:p xmlns:a="http://schemas.openxmlformats.org/drawingml/2006/main">
            <a:pPr>
              <a:defRPr sz="1200" b="0">
                <a:solidFill>
                  <a:srgbClr val="52697B"/>
                </a:solidFill>
                <a:latin typeface="Arial"/>
                <a:ea typeface="Arial"/>
                <a:cs typeface="Arial"/>
              </a:defRPr>
            </a:pPr>
            <a:r>
              <a:rPr sz="1200" b="0">
                <a:solidFill>
                  <a:srgbClr val="52697B"/>
                </a:solidFill>
                <a:latin typeface="Arial"/>
                <a:ea typeface="Arial"/>
                <a:cs typeface="Arial"/>
              </a:rPr>
              <a:t>07  |  REVIEW 3 · HR KNOWLEDGE ASSISTANT</a:t>
            </a:r>
          </a:p>
        </p:txBody>
      </p:sp>
      <p:pic>
        <p:nvPicPr>
          <p:cNvPr id="3" name="">
            <a:extLst xmlns:a="http://schemas.openxmlformats.org/drawingml/2006/main">
              <a:ext uri="{FF2B5EF4-FFF2-40B4-BE49-F238E27FC236}">
                <a16:creationId xmlns:a16="http://schemas.microsoft.com/office/drawing/2014/main" id="{0930682E-65CA-4A5F-A177-4D73DA06D1C7}"/>
              </a:ext>
            </a:extLst>
          </p:cNvPr>
          <p:cNvPicPr>
            <a:picLocks xmlns:a="http://schemas.openxmlformats.org/drawingml/2006/main" noChangeAspect="1"/>
          </p:cNvPicPr>
          <p:nvPr/>
        </p:nvPicPr>
        <p:blipFill>
          <a:blip xmlns:r="http://schemas.openxmlformats.org/officeDocument/2006/relationships" xmlns:a="http://schemas.openxmlformats.org/drawingml/2006/main" r:embed="Rf52a474edcac4077"/>
          <a:stretch xmlns:a="http://schemas.openxmlformats.org/drawingml/2006/main"/>
        </p:blipFill>
        <p:spPr>
          <a:xfrm xmlns:a="http://schemas.openxmlformats.org/drawingml/2006/main">
            <a:off x="3158624" y="1476375"/>
            <a:ext cx="5874752" cy="4524375"/>
          </a:xfrm>
          <a:prstGeom xmlns:a="http://schemas.openxmlformats.org/drawingml/2006/main" prst="rect">
            <a:avLst/>
          </a:prstGeom>
        </p:spPr>
      </p:pic>
    </p:spTree>
    <p:extLst>
      <p:ext uri="{BB962C8B-B14F-4D97-AF65-F5344CB8AC3E}">
        <p14:creationId xmlns:p14="http://schemas.microsoft.com/office/powerpoint/2010/main" val="1378164703"/>
      </p:ext>
    </p:extLst>
  </p:cSld>
</p:sld>
</file>

<file path=ppt/slides/slide8.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DCBCBB9-A7A3-4E7C-9448-F582AB1BAEEF}"/>
              </a:ext>
            </a:extLst>
          </p:cNvPr>
          <p:cNvSpPr>
            <a:spLocks xmlns:a="http://schemas.openxmlformats.org/drawingml/2006/main" noGrp="1"/>
          </p:cNvSpPr>
          <p:nvPr/>
        </p:nvSpPr>
        <p:spPr>
          <a:xfrm xmlns:a="http://schemas.openxmlformats.org/drawingml/2006/main">
            <a:off x="609600" y="409575"/>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000" b="1">
                <a:solidFill>
                  <a:srgbClr val="14324A"/>
                </a:solidFill>
                <a:latin typeface="Arial"/>
                <a:ea typeface="Arial"/>
                <a:cs typeface="Arial"/>
              </a:defRPr>
            </a:defPPr>
          </a:lstStyle>
          <a:p xmlns:a="http://schemas.openxmlformats.org/drawingml/2006/main">
            <a:pPr>
              <a:defRPr sz="3000" b="1">
                <a:solidFill>
                  <a:srgbClr val="14324A"/>
                </a:solidFill>
                <a:latin typeface="Arial"/>
                <a:ea typeface="Arial"/>
                <a:cs typeface="Arial"/>
              </a:defRPr>
            </a:pPr>
            <a:r>
              <a:rPr sz="3000" b="1">
                <a:solidFill>
                  <a:srgbClr val="14324A"/>
                </a:solidFill>
                <a:latin typeface="Arial"/>
                <a:ea typeface="Arial"/>
                <a:cs typeface="Arial"/>
              </a:rPr>
              <a:t>The trajectory exposes the actual stopping decision</a:t>
            </a:r>
          </a:p>
        </p:txBody>
      </p:sp>
      <p:sp>
        <p:nvSpPr>
          <p:cNvPr id="2" name="">
            <a:extLst xmlns:a="http://schemas.openxmlformats.org/drawingml/2006/main">
              <a:ext uri="{FF2B5EF4-FFF2-40B4-BE49-F238E27FC236}">
                <a16:creationId xmlns:a16="http://schemas.microsoft.com/office/drawing/2014/main" id="{798F0CB0-D433-40A2-8E38-043212F366A6}"/>
              </a:ext>
            </a:extLst>
          </p:cNvPr>
          <p:cNvSpPr>
            <a:spLocks xmlns:a="http://schemas.openxmlformats.org/drawingml/2006/main" noGrp="1"/>
          </p:cNvSpPr>
          <p:nvPr/>
        </p:nvSpPr>
        <p:spPr>
          <a:xfrm xmlns:a="http://schemas.openxmlformats.org/drawingml/2006/main">
            <a:off x="609600" y="64198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2697B"/>
                </a:solidFill>
                <a:latin typeface="Arial"/>
                <a:ea typeface="Arial"/>
                <a:cs typeface="Arial"/>
              </a:defRPr>
            </a:defPPr>
          </a:lstStyle>
          <a:p xmlns:a="http://schemas.openxmlformats.org/drawingml/2006/main">
            <a:pPr>
              <a:defRPr sz="1200" b="0">
                <a:solidFill>
                  <a:srgbClr val="52697B"/>
                </a:solidFill>
                <a:latin typeface="Arial"/>
                <a:ea typeface="Arial"/>
                <a:cs typeface="Arial"/>
              </a:defRPr>
            </a:pPr>
            <a:r>
              <a:rPr sz="1200" b="0">
                <a:solidFill>
                  <a:srgbClr val="52697B"/>
                </a:solidFill>
                <a:latin typeface="Arial"/>
                <a:ea typeface="Arial"/>
                <a:cs typeface="Arial"/>
              </a:rPr>
              <a:t>08  |  REVIEW 3 · HR KNOWLEDGE ASSISTANT</a:t>
            </a:r>
          </a:p>
        </p:txBody>
      </p:sp>
      <p:graphicFrame>
        <p:nvGraphicFramePr>
          <p:cNvPr id="3" name="">
            <a:extLst xmlns:a="http://schemas.openxmlformats.org/drawingml/2006/main">
              <a:ext uri="{FF2B5EF4-FFF2-40B4-BE49-F238E27FC236}">
                <a16:creationId xmlns:a16="http://schemas.microsoft.com/office/drawing/2014/main" id="{8CBCD2D5-0722-4CD7-A773-D3E28699DBF1}"/>
              </a:ext>
            </a:extLst>
          </p:cNvPr>
          <p:cNvGraphicFramePr/>
          <p:nvPr/>
        </p:nvGraphicFramePr>
        <p:xfrm>
          <a:off xmlns:a="http://schemas.openxmlformats.org/drawingml/2006/main" x="609600" y="1714500"/>
          <a:ext xmlns:a="http://schemas.openxmlformats.org/drawingml/2006/main" cx="10972800" cy="1800225"/>
        </p:xfrm>
        <a:graphic xmlns:a="http://schemas.openxmlformats.org/drawingml/2006/main">
          <a:graphicData uri="http://schemas.openxmlformats.org/drawingml/2006/table">
            <a:tbl>
              <a:tblPr/>
              <a:tblGrid>
                <a:gridCol w="2743200"/>
                <a:gridCol w="2743200"/>
                <a:gridCol w="2743200"/>
                <a:gridCol w="2743200"/>
              </a:tblGrid>
              <a:tr h="600075">
                <a:tc>
                  <a:txBody>
                    <a:bodyPr/>
                    <a:lstStyle/>
                    <a:p>
                      <a:r>
                        <a:rPr sz="1725" b="1">
                          <a:solidFill>
                            <a:srgbClr val="FFFFFF"/>
                          </a:solidFill>
                          <a:latin typeface="Arial"/>
                          <a:ea typeface="Arial"/>
                          <a:cs typeface="Arial"/>
                        </a:rPr>
                        <a:t>Attempt</a:t>
                      </a:r>
                    </a:p>
                  </a:txBody>
                  <a:tcPr marL="91440" marR="91440" marT="45720" marB="45720">
                    <a:solidFill>
                      <a:srgbClr val="10283D"/>
                    </a:solidFill>
                  </a:tcPr>
                </a:tc>
                <a:tc>
                  <a:txBody>
                    <a:bodyPr/>
                    <a:lstStyle/>
                    <a:p>
                      <a:r>
                        <a:rPr sz="1725" b="1">
                          <a:solidFill>
                            <a:srgbClr val="FFFFFF"/>
                          </a:solidFill>
                          <a:latin typeface="Arial"/>
                          <a:ea typeface="Arial"/>
                          <a:cs typeface="Arial"/>
                        </a:rPr>
                        <a:t>Critic</a:t>
                      </a:r>
                    </a:p>
                  </a:txBody>
                  <a:tcPr marL="91440" marR="91440" marT="45720" marB="45720">
                    <a:solidFill>
                      <a:srgbClr val="10283D"/>
                    </a:solidFill>
                  </a:tcPr>
                </a:tc>
                <a:tc>
                  <a:txBody>
                    <a:bodyPr/>
                    <a:lstStyle/>
                    <a:p>
                      <a:r>
                        <a:rPr sz="1725" b="1">
                          <a:solidFill>
                            <a:srgbClr val="FFFFFF"/>
                          </a:solidFill>
                          <a:latin typeface="Arial"/>
                          <a:ea typeface="Arial"/>
                          <a:cs typeface="Arial"/>
                        </a:rPr>
                        <a:t>Policy</a:t>
                      </a:r>
                    </a:p>
                  </a:txBody>
                  <a:tcPr marL="91440" marR="91440" marT="45720" marB="45720">
                    <a:solidFill>
                      <a:srgbClr val="10283D"/>
                    </a:solidFill>
                  </a:tcPr>
                </a:tc>
                <a:tc>
                  <a:txBody>
                    <a:bodyPr/>
                    <a:lstStyle/>
                    <a:p>
                      <a:r>
                        <a:rPr sz="1725" b="1">
                          <a:solidFill>
                            <a:srgbClr val="FFFFFF"/>
                          </a:solidFill>
                          <a:latin typeface="Arial"/>
                          <a:ea typeface="Arial"/>
                          <a:cs typeface="Arial"/>
                        </a:rPr>
                        <a:t>P(STOP)</a:t>
                      </a:r>
                    </a:p>
                  </a:txBody>
                  <a:tcPr marL="91440" marR="91440" marT="45720" marB="45720">
                    <a:solidFill>
                      <a:srgbClr val="10283D"/>
                    </a:solidFill>
                  </a:tcPr>
                </a:tc>
              </a:tr>
              <a:tr h="600075">
                <a:tc>
                  <a:txBody>
                    <a:bodyPr/>
                    <a:lstStyle/>
                    <a:p>
                      <a:r>
                        <a:rPr sz="1800" b="0">
                          <a:solidFill>
                            <a:srgbClr val="14324A"/>
                          </a:solidFill>
                          <a:latin typeface="Arial"/>
                          <a:ea typeface="Arial"/>
                          <a:cs typeface="Arial"/>
                        </a:rPr>
                        <a:t>1</a:t>
                      </a:r>
                    </a:p>
                  </a:txBody>
                  <a:tcPr marL="91440" marR="91440" marT="45720" marB="45720">
                    <a:solidFill>
                      <a:srgbClr val="FFFFFF"/>
                    </a:solidFill>
                  </a:tcPr>
                </a:tc>
                <a:tc>
                  <a:txBody>
                    <a:bodyPr/>
                    <a:lstStyle/>
                    <a:p>
                      <a:r>
                        <a:rPr sz="1800" b="0">
                          <a:solidFill>
                            <a:srgbClr val="14324A"/>
                          </a:solidFill>
                          <a:latin typeface="Arial"/>
                          <a:ea typeface="Arial"/>
                          <a:cs typeface="Arial"/>
                        </a:rPr>
                        <a:t>0.57</a:t>
                      </a:r>
                    </a:p>
                  </a:txBody>
                  <a:tcPr marL="91440" marR="91440" marT="45720" marB="45720">
                    <a:solidFill>
                      <a:srgbClr val="FFFFFF"/>
                    </a:solidFill>
                  </a:tcPr>
                </a:tc>
                <a:tc>
                  <a:txBody>
                    <a:bodyPr/>
                    <a:lstStyle/>
                    <a:p>
                      <a:r>
                        <a:rPr sz="1800" b="0">
                          <a:solidFill>
                            <a:srgbClr val="14324A"/>
                          </a:solidFill>
                          <a:latin typeface="Arial"/>
                          <a:ea typeface="Arial"/>
                          <a:cs typeface="Arial"/>
                        </a:rPr>
                        <a:t>CONTINUE</a:t>
                      </a:r>
                    </a:p>
                  </a:txBody>
                  <a:tcPr marL="91440" marR="91440" marT="45720" marB="45720">
                    <a:solidFill>
                      <a:srgbClr val="FFFFFF"/>
                    </a:solidFill>
                  </a:tcPr>
                </a:tc>
                <a:tc>
                  <a:txBody>
                    <a:bodyPr/>
                    <a:lstStyle/>
                    <a:p>
                      <a:r>
                        <a:rPr sz="1800" b="0">
                          <a:solidFill>
                            <a:srgbClr val="14324A"/>
                          </a:solidFill>
                          <a:latin typeface="Arial"/>
                          <a:ea typeface="Arial"/>
                          <a:cs typeface="Arial"/>
                        </a:rPr>
                        <a:t>0.319</a:t>
                      </a:r>
                    </a:p>
                  </a:txBody>
                  <a:tcPr marL="91440" marR="91440" marT="45720" marB="45720">
                    <a:solidFill>
                      <a:srgbClr val="FFFFFF"/>
                    </a:solidFill>
                  </a:tcPr>
                </a:tc>
              </a:tr>
              <a:tr h="600075">
                <a:tc>
                  <a:txBody>
                    <a:bodyPr/>
                    <a:lstStyle/>
                    <a:p>
                      <a:r>
                        <a:rPr sz="1800" b="0">
                          <a:solidFill>
                            <a:srgbClr val="14324A"/>
                          </a:solidFill>
                          <a:latin typeface="Arial"/>
                          <a:ea typeface="Arial"/>
                          <a:cs typeface="Arial"/>
                        </a:rPr>
                        <a:t>2</a:t>
                      </a:r>
                    </a:p>
                  </a:txBody>
                  <a:tcPr marL="91440" marR="91440" marT="45720" marB="45720">
                    <a:solidFill>
                      <a:srgbClr val="EAF2F5"/>
                    </a:solidFill>
                  </a:tcPr>
                </a:tc>
                <a:tc>
                  <a:txBody>
                    <a:bodyPr/>
                    <a:lstStyle/>
                    <a:p>
                      <a:r>
                        <a:rPr sz="1800" b="0">
                          <a:solidFill>
                            <a:srgbClr val="14324A"/>
                          </a:solidFill>
                          <a:latin typeface="Arial"/>
                          <a:ea typeface="Arial"/>
                          <a:cs typeface="Arial"/>
                        </a:rPr>
                        <a:t>0.71</a:t>
                      </a:r>
                    </a:p>
                  </a:txBody>
                  <a:tcPr marL="91440" marR="91440" marT="45720" marB="45720">
                    <a:solidFill>
                      <a:srgbClr val="EAF2F5"/>
                    </a:solidFill>
                  </a:tcPr>
                </a:tc>
                <a:tc>
                  <a:txBody>
                    <a:bodyPr/>
                    <a:lstStyle/>
                    <a:p>
                      <a:r>
                        <a:rPr sz="1800" b="0">
                          <a:solidFill>
                            <a:srgbClr val="14324A"/>
                          </a:solidFill>
                          <a:latin typeface="Arial"/>
                          <a:ea typeface="Arial"/>
                          <a:cs typeface="Arial"/>
                        </a:rPr>
                        <a:t>STOP</a:t>
                      </a:r>
                    </a:p>
                  </a:txBody>
                  <a:tcPr marL="91440" marR="91440" marT="45720" marB="45720">
                    <a:solidFill>
                      <a:srgbClr val="EAF2F5"/>
                    </a:solidFill>
                  </a:tcPr>
                </a:tc>
                <a:tc>
                  <a:txBody>
                    <a:bodyPr/>
                    <a:lstStyle/>
                    <a:p>
                      <a:r>
                        <a:rPr sz="1800" b="0">
                          <a:solidFill>
                            <a:srgbClr val="14324A"/>
                          </a:solidFill>
                          <a:latin typeface="Arial"/>
                          <a:ea typeface="Arial"/>
                          <a:cs typeface="Arial"/>
                        </a:rPr>
                        <a:t>0.842</a:t>
                      </a:r>
                    </a:p>
                  </a:txBody>
                  <a:tcPr marL="91440" marR="91440" marT="45720" marB="45720">
                    <a:solidFill>
                      <a:srgbClr val="EAF2F5"/>
                    </a:solidFill>
                  </a:tcPr>
                </a:tc>
              </a:tr>
            </a:tbl>
          </a:graphicData>
        </a:graphic>
      </p:graphicFrame>
      <p:sp>
        <p:nvSpPr>
          <p:cNvPr id="4" name="">
            <a:extLst xmlns:a="http://schemas.openxmlformats.org/drawingml/2006/main">
              <a:ext uri="{FF2B5EF4-FFF2-40B4-BE49-F238E27FC236}">
                <a16:creationId xmlns:a16="http://schemas.microsoft.com/office/drawing/2014/main" id="{07E05F6F-1254-4574-8273-155CA56FE84F}"/>
              </a:ext>
            </a:extLst>
          </p:cNvPr>
          <p:cNvSpPr>
            <a:spLocks xmlns:a="http://schemas.openxmlformats.org/drawingml/2006/main" noGrp="1"/>
          </p:cNvSpPr>
          <p:nvPr/>
        </p:nvSpPr>
        <p:spPr>
          <a:xfrm xmlns:a="http://schemas.openxmlformats.org/drawingml/2006/main">
            <a:off x="666750" y="4238625"/>
            <a:ext cx="10477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087F88"/>
                </a:solidFill>
                <a:latin typeface="Arial"/>
                <a:ea typeface="Arial"/>
                <a:cs typeface="Arial"/>
              </a:defRPr>
            </a:defPPr>
          </a:lstStyle>
          <a:p xmlns:a="http://schemas.openxmlformats.org/drawingml/2006/main">
            <a:pPr>
              <a:defRPr sz="2250" b="0">
                <a:solidFill>
                  <a:srgbClr val="087F88"/>
                </a:solidFill>
                <a:latin typeface="Arial"/>
                <a:ea typeface="Arial"/>
                <a:cs typeface="Arial"/>
              </a:defRPr>
            </a:pPr>
            <a:r>
              <a:rPr sz="2250" b="0">
                <a:solidFill>
                  <a:srgbClr val="087F88"/>
                </a:solidFill>
                <a:latin typeface="Arial"/>
                <a:ea typeface="Arial"/>
                <a:cs typeface="Arial"/>
              </a:rPr>
              <a:t>CL answer: section 5.5.1 supports the 31 May lapse rule.</a:t>
            </a:r>
          </a:p>
          <a:p xmlns:a="http://schemas.openxmlformats.org/drawingml/2006/main">
            <a:pPr>
              <a:defRPr sz="2250" b="0">
                <a:solidFill>
                  <a:srgbClr val="087F88"/>
                </a:solidFill>
                <a:latin typeface="Arial"/>
                <a:ea typeface="Arial"/>
                <a:cs typeface="Arial"/>
              </a:defRPr>
            </a:pPr>
            <a:r>
              <a:rPr sz="2250" b="0">
                <a:solidFill>
                  <a:srgbClr val="087F88"/>
                </a:solidFill>
                <a:latin typeface="Arial"/>
                <a:ea typeface="Arial"/>
                <a:cs typeface="Arial"/>
              </a:rPr>
              <a:t>This answer comes from source verification, not critic sufficiency.</a:t>
            </a:r>
          </a:p>
        </p:txBody>
      </p:sp>
    </p:spTree>
    <p:extLst>
      <p:ext uri="{BB962C8B-B14F-4D97-AF65-F5344CB8AC3E}">
        <p14:creationId xmlns:p14="http://schemas.microsoft.com/office/powerpoint/2010/main" val="1953078154"/>
      </p:ext>
    </p:extLst>
  </p:cSld>
</p:sld>
</file>

<file path=ppt/slides/slide9.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455FEBD-4FA5-432D-B36B-CAED334353C0}"/>
              </a:ext>
            </a:extLst>
          </p:cNvPr>
          <p:cNvSpPr>
            <a:spLocks xmlns:a="http://schemas.openxmlformats.org/drawingml/2006/main" noGrp="1"/>
          </p:cNvSpPr>
          <p:nvPr/>
        </p:nvSpPr>
        <p:spPr>
          <a:xfrm xmlns:a="http://schemas.openxmlformats.org/drawingml/2006/main">
            <a:off x="609600" y="409575"/>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000" b="1">
                <a:solidFill>
                  <a:srgbClr val="14324A"/>
                </a:solidFill>
                <a:latin typeface="Arial"/>
                <a:ea typeface="Arial"/>
                <a:cs typeface="Arial"/>
              </a:defRPr>
            </a:defPPr>
          </a:lstStyle>
          <a:p xmlns:a="http://schemas.openxmlformats.org/drawingml/2006/main">
            <a:pPr>
              <a:defRPr sz="3000" b="1">
                <a:solidFill>
                  <a:srgbClr val="14324A"/>
                </a:solidFill>
                <a:latin typeface="Arial"/>
                <a:ea typeface="Arial"/>
                <a:cs typeface="Arial"/>
              </a:defRPr>
            </a:pPr>
            <a:r>
              <a:rPr sz="3000" b="1">
                <a:solidFill>
                  <a:srgbClr val="14324A"/>
                </a:solidFill>
                <a:latin typeface="Arial"/>
                <a:ea typeface="Arial"/>
                <a:cs typeface="Arial"/>
              </a:rPr>
              <a:t>Historical results are useful—but not independent</a:t>
            </a:r>
          </a:p>
        </p:txBody>
      </p:sp>
      <p:sp>
        <p:nvSpPr>
          <p:cNvPr id="2" name="">
            <a:extLst xmlns:a="http://schemas.openxmlformats.org/drawingml/2006/main">
              <a:ext uri="{FF2B5EF4-FFF2-40B4-BE49-F238E27FC236}">
                <a16:creationId xmlns:a16="http://schemas.microsoft.com/office/drawing/2014/main" id="{0646C879-EF88-4EA7-853C-DB9306E9401C}"/>
              </a:ext>
            </a:extLst>
          </p:cNvPr>
          <p:cNvSpPr>
            <a:spLocks xmlns:a="http://schemas.openxmlformats.org/drawingml/2006/main" noGrp="1"/>
          </p:cNvSpPr>
          <p:nvPr/>
        </p:nvSpPr>
        <p:spPr>
          <a:xfrm xmlns:a="http://schemas.openxmlformats.org/drawingml/2006/main">
            <a:off x="609600" y="64198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2697B"/>
                </a:solidFill>
                <a:latin typeface="Arial"/>
                <a:ea typeface="Arial"/>
                <a:cs typeface="Arial"/>
              </a:defRPr>
            </a:defPPr>
          </a:lstStyle>
          <a:p xmlns:a="http://schemas.openxmlformats.org/drawingml/2006/main">
            <a:pPr>
              <a:defRPr sz="1200" b="0">
                <a:solidFill>
                  <a:srgbClr val="52697B"/>
                </a:solidFill>
                <a:latin typeface="Arial"/>
                <a:ea typeface="Arial"/>
                <a:cs typeface="Arial"/>
              </a:defRPr>
            </a:pPr>
            <a:r>
              <a:rPr sz="1200" b="0">
                <a:solidFill>
                  <a:srgbClr val="52697B"/>
                </a:solidFill>
                <a:latin typeface="Arial"/>
                <a:ea typeface="Arial"/>
                <a:cs typeface="Arial"/>
              </a:rPr>
              <a:t>09  |  REVIEW 3 · HR KNOWLEDGE ASSISTANT</a:t>
            </a:r>
          </a:p>
        </p:txBody>
      </p:sp>
      <p:graphicFrame>
        <p:nvGraphicFramePr>
          <p:cNvPr id="3" name="Chart">
            <a:extLst xmlns:a="http://schemas.openxmlformats.org/drawingml/2006/main">
              <a:ext uri="{FF2B5EF4-FFF2-40B4-BE49-F238E27FC236}">
                <a16:creationId xmlns:a16="http://schemas.microsoft.com/office/drawing/2014/main" id="{9A12C4B9-7683-464D-98C5-4789382C6D9F}"/>
              </a:ext>
            </a:extLst>
          </p:cNvPr>
          <p:cNvGraphicFramePr/>
          <p:nvPr/>
        </p:nvGraphicFramePr>
        <p:xfrm>
          <a:off xmlns:a="http://schemas.openxmlformats.org/drawingml/2006/main" x="857250" y="1857375"/>
          <a:ext xmlns:a="http://schemas.openxmlformats.org/drawingml/2006/main" cx="10287000" cy="3238500"/>
        </p:xfrm>
        <a:graphic xmlns:a="http://schemas.openxmlformats.org/drawingml/2006/main">
          <a:graphicData uri="http://schemas.openxmlformats.org/drawingml/2006/chart">
            <c:chart xmlns:r="http://schemas.openxmlformats.org/officeDocument/2006/relationships" xmlns:c="http://schemas.openxmlformats.org/drawingml/2006/chart" r:id="R42d077b1a24843c0"/>
          </a:graphicData>
        </a:graphic>
      </p:graphicFrame>
      <p:sp>
        <p:nvSpPr>
          <p:cNvPr id="4" name="">
            <a:extLst xmlns:a="http://schemas.openxmlformats.org/drawingml/2006/main">
              <a:ext uri="{FF2B5EF4-FFF2-40B4-BE49-F238E27FC236}">
                <a16:creationId xmlns:a16="http://schemas.microsoft.com/office/drawing/2014/main" id="{A70400B5-9C28-48D5-94EC-FEB2B1802FDE}"/>
              </a:ext>
            </a:extLst>
          </p:cNvPr>
          <p:cNvSpPr>
            <a:spLocks xmlns:a="http://schemas.openxmlformats.org/drawingml/2006/main" noGrp="1"/>
          </p:cNvSpPr>
          <p:nvPr/>
        </p:nvSpPr>
        <p:spPr>
          <a:xfrm xmlns:a="http://schemas.openxmlformats.org/drawingml/2006/main">
            <a:off x="666750" y="54292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AD720B"/>
                </a:solidFill>
                <a:latin typeface="Arial"/>
                <a:ea typeface="Arial"/>
                <a:cs typeface="Arial"/>
              </a:defRPr>
            </a:defPPr>
          </a:lstStyle>
          <a:p xmlns:a="http://schemas.openxmlformats.org/drawingml/2006/main">
            <a:pPr>
              <a:defRPr sz="2025" b="1">
                <a:solidFill>
                  <a:srgbClr val="AD720B"/>
                </a:solidFill>
                <a:latin typeface="Arial"/>
                <a:ea typeface="Arial"/>
                <a:cs typeface="Arial"/>
              </a:defRPr>
            </a:pPr>
            <a:r>
              <a:rPr sz="2025" b="1">
                <a:solidFill>
                  <a:srgbClr val="AD720B"/>
                </a:solidFill>
                <a:latin typeface="Arial"/>
                <a:ea typeface="Arial"/>
                <a:cs typeface="Arial"/>
              </a:rPr>
              <a:t>100 questions · 75% critic success each · 89/100 overlap training</a:t>
            </a:r>
          </a:p>
        </p:txBody>
      </p:sp>
    </p:spTree>
    <p:extLst>
      <p:ext uri="{BB962C8B-B14F-4D97-AF65-F5344CB8AC3E}">
        <p14:creationId xmlns:p14="http://schemas.microsoft.com/office/powerpoint/2010/main" val="116181057"/>
      </p:ext>
    </p:extLst>
  </p:cSld>
</p:sld>
</file>

<file path=ppt/slides/slide10.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2983316-3950-4FAC-855C-2820A9650EF7}"/>
              </a:ext>
            </a:extLst>
          </p:cNvPr>
          <p:cNvSpPr>
            <a:spLocks xmlns:a="http://schemas.openxmlformats.org/drawingml/2006/main" noGrp="1"/>
          </p:cNvSpPr>
          <p:nvPr/>
        </p:nvSpPr>
        <p:spPr>
          <a:xfrm xmlns:a="http://schemas.openxmlformats.org/drawingml/2006/main">
            <a:off x="609600" y="409575"/>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000" b="1">
                <a:solidFill>
                  <a:srgbClr val="14324A"/>
                </a:solidFill>
                <a:latin typeface="Arial"/>
                <a:ea typeface="Arial"/>
                <a:cs typeface="Arial"/>
              </a:defRPr>
            </a:defPPr>
          </a:lstStyle>
          <a:p xmlns:a="http://schemas.openxmlformats.org/drawingml/2006/main">
            <a:pPr>
              <a:defRPr sz="3000" b="1">
                <a:solidFill>
                  <a:srgbClr val="14324A"/>
                </a:solidFill>
                <a:latin typeface="Arial"/>
                <a:ea typeface="Arial"/>
                <a:cs typeface="Arial"/>
              </a:defRPr>
            </a:pPr>
            <a:r>
              <a:rPr sz="3000" b="1">
                <a:solidFill>
                  <a:srgbClr val="14324A"/>
                </a:solidFill>
                <a:latin typeface="Arial"/>
                <a:ea typeface="Arial"/>
                <a:cs typeface="Arial"/>
              </a:rPr>
              <a:t>Thirty candidates, zero claimed independent approvals</a:t>
            </a:r>
          </a:p>
        </p:txBody>
      </p:sp>
      <p:sp>
        <p:nvSpPr>
          <p:cNvPr id="2" name="">
            <a:extLst xmlns:a="http://schemas.openxmlformats.org/drawingml/2006/main">
              <a:ext uri="{FF2B5EF4-FFF2-40B4-BE49-F238E27FC236}">
                <a16:creationId xmlns:a16="http://schemas.microsoft.com/office/drawing/2014/main" id="{00147BDE-D3C4-4B6D-9C51-05D9278AC45A}"/>
              </a:ext>
            </a:extLst>
          </p:cNvPr>
          <p:cNvSpPr>
            <a:spLocks xmlns:a="http://schemas.openxmlformats.org/drawingml/2006/main" noGrp="1"/>
          </p:cNvSpPr>
          <p:nvPr/>
        </p:nvSpPr>
        <p:spPr>
          <a:xfrm xmlns:a="http://schemas.openxmlformats.org/drawingml/2006/main">
            <a:off x="609600" y="64198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2697B"/>
                </a:solidFill>
                <a:latin typeface="Arial"/>
                <a:ea typeface="Arial"/>
                <a:cs typeface="Arial"/>
              </a:defRPr>
            </a:defPPr>
          </a:lstStyle>
          <a:p xmlns:a="http://schemas.openxmlformats.org/drawingml/2006/main">
            <a:pPr>
              <a:defRPr sz="1200" b="0">
                <a:solidFill>
                  <a:srgbClr val="52697B"/>
                </a:solidFill>
                <a:latin typeface="Arial"/>
                <a:ea typeface="Arial"/>
                <a:cs typeface="Arial"/>
              </a:defRPr>
            </a:pPr>
            <a:r>
              <a:rPr sz="1200" b="0">
                <a:solidFill>
                  <a:srgbClr val="52697B"/>
                </a:solidFill>
                <a:latin typeface="Arial"/>
                <a:ea typeface="Arial"/>
                <a:cs typeface="Arial"/>
              </a:rPr>
              <a:t>10  |  REVIEW 3 · HR KNOWLEDGE ASSISTANT</a:t>
            </a:r>
          </a:p>
        </p:txBody>
      </p:sp>
      <p:graphicFrame>
        <p:nvGraphicFramePr>
          <p:cNvPr id="3" name="">
            <a:extLst xmlns:a="http://schemas.openxmlformats.org/drawingml/2006/main">
              <a:ext uri="{FF2B5EF4-FFF2-40B4-BE49-F238E27FC236}">
                <a16:creationId xmlns:a16="http://schemas.microsoft.com/office/drawing/2014/main" id="{86BDE753-028F-48DA-BCB6-261EBA3E0E1D}"/>
              </a:ext>
            </a:extLst>
          </p:cNvPr>
          <p:cNvGraphicFramePr/>
          <p:nvPr/>
        </p:nvGraphicFramePr>
        <p:xfrm>
          <a:off xmlns:a="http://schemas.openxmlformats.org/drawingml/2006/main" x="609600" y="1714500"/>
          <a:ext xmlns:a="http://schemas.openxmlformats.org/drawingml/2006/main" cx="10972800" cy="3000375"/>
        </p:xfrm>
        <a:graphic xmlns:a="http://schemas.openxmlformats.org/drawingml/2006/main">
          <a:graphicData uri="http://schemas.openxmlformats.org/drawingml/2006/table">
            <a:tbl>
              <a:tblPr/>
              <a:tblGrid>
                <a:gridCol w="5619750"/>
                <a:gridCol w="5353050"/>
              </a:tblGrid>
              <a:tr h="600075">
                <a:tc>
                  <a:txBody>
                    <a:bodyPr/>
                    <a:lstStyle/>
                    <a:p>
                      <a:r>
                        <a:rPr sz="1725" b="1">
                          <a:solidFill>
                            <a:srgbClr val="FFFFFF"/>
                          </a:solidFill>
                          <a:latin typeface="Arial"/>
                          <a:ea typeface="Arial"/>
                          <a:cs typeface="Arial"/>
                        </a:rPr>
                        <a:t>Screening item</a:t>
                      </a:r>
                    </a:p>
                  </a:txBody>
                  <a:tcPr marL="91440" marR="91440" marT="45720" marB="45720">
                    <a:solidFill>
                      <a:srgbClr val="10283D"/>
                    </a:solidFill>
                  </a:tcPr>
                </a:tc>
                <a:tc>
                  <a:txBody>
                    <a:bodyPr/>
                    <a:lstStyle/>
                    <a:p>
                      <a:r>
                        <a:rPr sz="1725" b="1">
                          <a:solidFill>
                            <a:srgbClr val="FFFFFF"/>
                          </a:solidFill>
                          <a:latin typeface="Arial"/>
                          <a:ea typeface="Arial"/>
                          <a:cs typeface="Arial"/>
                        </a:rPr>
                        <a:t>Observed status</a:t>
                      </a:r>
                    </a:p>
                  </a:txBody>
                  <a:tcPr marL="91440" marR="91440" marT="45720" marB="45720">
                    <a:solidFill>
                      <a:srgbClr val="10283D"/>
                    </a:solidFill>
                  </a:tcPr>
                </a:tc>
              </a:tr>
              <a:tr h="600075">
                <a:tc>
                  <a:txBody>
                    <a:bodyPr/>
                    <a:lstStyle/>
                    <a:p>
                      <a:r>
                        <a:rPr sz="1800" b="0">
                          <a:solidFill>
                            <a:srgbClr val="14324A"/>
                          </a:solidFill>
                          <a:latin typeface="Arial"/>
                          <a:ea typeface="Arial"/>
                          <a:cs typeface="Arial"/>
                        </a:rPr>
                        <a:t>Candidate questions</a:t>
                      </a:r>
                    </a:p>
                  </a:txBody>
                  <a:tcPr marL="91440" marR="91440" marT="45720" marB="45720">
                    <a:solidFill>
                      <a:srgbClr val="FFFFFF"/>
                    </a:solidFill>
                  </a:tcPr>
                </a:tc>
                <a:tc>
                  <a:txBody>
                    <a:bodyPr/>
                    <a:lstStyle/>
                    <a:p>
                      <a:r>
                        <a:rPr sz="1800" b="0">
                          <a:solidFill>
                            <a:srgbClr val="14324A"/>
                          </a:solidFill>
                          <a:latin typeface="Arial"/>
                          <a:ea typeface="Arial"/>
                          <a:cs typeface="Arial"/>
                        </a:rPr>
                        <a:t>30; five categories × six</a:t>
                      </a:r>
                    </a:p>
                  </a:txBody>
                  <a:tcPr marL="91440" marR="91440" marT="45720" marB="45720">
                    <a:solidFill>
                      <a:srgbClr val="FFFFFF"/>
                    </a:solidFill>
                  </a:tcPr>
                </a:tc>
              </a:tr>
              <a:tr h="600075">
                <a:tc>
                  <a:txBody>
                    <a:bodyPr/>
                    <a:lstStyle/>
                    <a:p>
                      <a:r>
                        <a:rPr sz="1800" b="0">
                          <a:solidFill>
                            <a:srgbClr val="14324A"/>
                          </a:solidFill>
                          <a:latin typeface="Arial"/>
                          <a:ea typeface="Arial"/>
                          <a:cs typeface="Arial"/>
                        </a:rPr>
                        <a:t>Historical reference inventory</a:t>
                      </a:r>
                    </a:p>
                  </a:txBody>
                  <a:tcPr marL="91440" marR="91440" marT="45720" marB="45720">
                    <a:solidFill>
                      <a:srgbClr val="EAF2F5"/>
                    </a:solidFill>
                  </a:tcPr>
                </a:tc>
                <a:tc>
                  <a:txBody>
                    <a:bodyPr/>
                    <a:lstStyle/>
                    <a:p>
                      <a:r>
                        <a:rPr sz="1800" b="0">
                          <a:solidFill>
                            <a:srgbClr val="14324A"/>
                          </a:solidFill>
                          <a:latin typeface="Arial"/>
                          <a:ea typeface="Arial"/>
                          <a:cs typeface="Arial"/>
                        </a:rPr>
                        <a:t>214 unique questions</a:t>
                      </a:r>
                    </a:p>
                  </a:txBody>
                  <a:tcPr marL="91440" marR="91440" marT="45720" marB="45720">
                    <a:solidFill>
                      <a:srgbClr val="EAF2F5"/>
                    </a:solidFill>
                  </a:tcPr>
                </a:tc>
              </a:tr>
              <a:tr h="600075">
                <a:tc>
                  <a:txBody>
                    <a:bodyPr/>
                    <a:lstStyle/>
                    <a:p>
                      <a:r>
                        <a:rPr sz="1800" b="0">
                          <a:solidFill>
                            <a:srgbClr val="14324A"/>
                          </a:solidFill>
                          <a:latin typeface="Arial"/>
                          <a:ea typeface="Arial"/>
                          <a:cs typeface="Arial"/>
                        </a:rPr>
                        <a:t>High similarity / broad-topic overlap</a:t>
                      </a:r>
                    </a:p>
                  </a:txBody>
                  <a:tcPr marL="91440" marR="91440" marT="45720" marB="45720">
                    <a:solidFill>
                      <a:srgbClr val="FFFFFF"/>
                    </a:solidFill>
                  </a:tcPr>
                </a:tc>
                <a:tc>
                  <a:txBody>
                    <a:bodyPr/>
                    <a:lstStyle/>
                    <a:p>
                      <a:r>
                        <a:rPr sz="1800" b="0">
                          <a:solidFill>
                            <a:srgbClr val="14324A"/>
                          </a:solidFill>
                          <a:latin typeface="Arial"/>
                          <a:ea typeface="Arial"/>
                          <a:cs typeface="Arial"/>
                        </a:rPr>
                        <a:t>2 / 23 candidates</a:t>
                      </a:r>
                    </a:p>
                  </a:txBody>
                  <a:tcPr marL="91440" marR="91440" marT="45720" marB="45720">
                    <a:solidFill>
                      <a:srgbClr val="FFFFFF"/>
                    </a:solidFill>
                  </a:tcPr>
                </a:tc>
              </a:tr>
              <a:tr h="600075">
                <a:tc>
                  <a:txBody>
                    <a:bodyPr/>
                    <a:lstStyle/>
                    <a:p>
                      <a:r>
                        <a:rPr sz="1800" b="0">
                          <a:solidFill>
                            <a:srgbClr val="14324A"/>
                          </a:solidFill>
                          <a:latin typeface="Arial"/>
                          <a:ea typeface="Arial"/>
                          <a:cs typeface="Arial"/>
                        </a:rPr>
                        <a:t>Independent approval / final freeze</a:t>
                      </a:r>
                    </a:p>
                  </a:txBody>
                  <a:tcPr marL="91440" marR="91440" marT="45720" marB="45720">
                    <a:solidFill>
                      <a:srgbClr val="EAF2F5"/>
                    </a:solidFill>
                  </a:tcPr>
                </a:tc>
                <a:tc>
                  <a:txBody>
                    <a:bodyPr/>
                    <a:lstStyle/>
                    <a:p>
                      <a:r>
                        <a:rPr sz="1800" b="0">
                          <a:solidFill>
                            <a:srgbClr val="14324A"/>
                          </a:solidFill>
                          <a:latin typeface="Arial"/>
                          <a:ea typeface="Arial"/>
                          <a:cs typeface="Arial"/>
                        </a:rPr>
                        <a:t>Pending / not frozen</a:t>
                      </a:r>
                    </a:p>
                  </a:txBody>
                  <a:tcPr marL="91440" marR="91440" marT="45720" marB="45720">
                    <a:solidFill>
                      <a:srgbClr val="EAF2F5"/>
                    </a:solidFill>
                  </a:tcPr>
                </a:tc>
              </a:tr>
            </a:tbl>
          </a:graphicData>
        </a:graphic>
      </p:graphicFrame>
    </p:spTree>
    <p:extLst>
      <p:ext uri="{BB962C8B-B14F-4D97-AF65-F5344CB8AC3E}">
        <p14:creationId xmlns:p14="http://schemas.microsoft.com/office/powerpoint/2010/main" val="1291921022"/>
      </p:ext>
    </p:extLst>
  </p:cSld>
</p:sld>
</file>

<file path=ppt/slides/slide11.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C09505C-8D92-4BCD-80C4-095933AF8084}"/>
              </a:ext>
            </a:extLst>
          </p:cNvPr>
          <p:cNvSpPr>
            <a:spLocks xmlns:a="http://schemas.openxmlformats.org/drawingml/2006/main" noGrp="1"/>
          </p:cNvSpPr>
          <p:nvPr/>
        </p:nvSpPr>
        <p:spPr>
          <a:xfrm xmlns:a="http://schemas.openxmlformats.org/drawingml/2006/main">
            <a:off x="609600" y="409575"/>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000" b="1">
                <a:solidFill>
                  <a:srgbClr val="14324A"/>
                </a:solidFill>
                <a:latin typeface="Arial"/>
                <a:ea typeface="Arial"/>
                <a:cs typeface="Arial"/>
              </a:defRPr>
            </a:defPPr>
          </a:lstStyle>
          <a:p xmlns:a="http://schemas.openxmlformats.org/drawingml/2006/main">
            <a:pPr>
              <a:defRPr sz="3000" b="1">
                <a:solidFill>
                  <a:srgbClr val="14324A"/>
                </a:solidFill>
                <a:latin typeface="Arial"/>
                <a:ea typeface="Arial"/>
                <a:cs typeface="Arial"/>
              </a:defRPr>
            </a:pPr>
            <a:r>
              <a:rPr sz="3000" b="1">
                <a:solidFill>
                  <a:srgbClr val="14324A"/>
                </a:solidFill>
                <a:latin typeface="Arial"/>
                <a:ea typeface="Arial"/>
                <a:cs typeface="Arial"/>
              </a:rPr>
              <a:t>Four policies share the retrieval components</a:t>
            </a:r>
          </a:p>
        </p:txBody>
      </p:sp>
      <p:sp>
        <p:nvSpPr>
          <p:cNvPr id="2" name="">
            <a:extLst xmlns:a="http://schemas.openxmlformats.org/drawingml/2006/main">
              <a:ext uri="{FF2B5EF4-FFF2-40B4-BE49-F238E27FC236}">
                <a16:creationId xmlns:a16="http://schemas.microsoft.com/office/drawing/2014/main" id="{A05FC851-A999-4605-8115-471099E94C97}"/>
              </a:ext>
            </a:extLst>
          </p:cNvPr>
          <p:cNvSpPr>
            <a:spLocks xmlns:a="http://schemas.openxmlformats.org/drawingml/2006/main" noGrp="1"/>
          </p:cNvSpPr>
          <p:nvPr/>
        </p:nvSpPr>
        <p:spPr>
          <a:xfrm xmlns:a="http://schemas.openxmlformats.org/drawingml/2006/main">
            <a:off x="609600" y="64198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2697B"/>
                </a:solidFill>
                <a:latin typeface="Arial"/>
                <a:ea typeface="Arial"/>
                <a:cs typeface="Arial"/>
              </a:defRPr>
            </a:defPPr>
          </a:lstStyle>
          <a:p xmlns:a="http://schemas.openxmlformats.org/drawingml/2006/main">
            <a:pPr>
              <a:defRPr sz="1200" b="0">
                <a:solidFill>
                  <a:srgbClr val="52697B"/>
                </a:solidFill>
                <a:latin typeface="Arial"/>
                <a:ea typeface="Arial"/>
                <a:cs typeface="Arial"/>
              </a:defRPr>
            </a:pPr>
            <a:r>
              <a:rPr sz="1200" b="0">
                <a:solidFill>
                  <a:srgbClr val="52697B"/>
                </a:solidFill>
                <a:latin typeface="Arial"/>
                <a:ea typeface="Arial"/>
                <a:cs typeface="Arial"/>
              </a:rPr>
              <a:t>11  |  REVIEW 3 · HR KNOWLEDGE ASSISTANT</a:t>
            </a:r>
          </a:p>
        </p:txBody>
      </p:sp>
      <p:graphicFrame>
        <p:nvGraphicFramePr>
          <p:cNvPr id="3" name="">
            <a:extLst xmlns:a="http://schemas.openxmlformats.org/drawingml/2006/main">
              <a:ext uri="{FF2B5EF4-FFF2-40B4-BE49-F238E27FC236}">
                <a16:creationId xmlns:a16="http://schemas.microsoft.com/office/drawing/2014/main" id="{8DA5BCB8-B4E6-477E-86C4-CD4DCB4E9661}"/>
              </a:ext>
            </a:extLst>
          </p:cNvPr>
          <p:cNvGraphicFramePr/>
          <p:nvPr/>
        </p:nvGraphicFramePr>
        <p:xfrm>
          <a:off xmlns:a="http://schemas.openxmlformats.org/drawingml/2006/main" x="609600" y="1714500"/>
          <a:ext xmlns:a="http://schemas.openxmlformats.org/drawingml/2006/main" cx="10972800" cy="3000375"/>
        </p:xfrm>
        <a:graphic xmlns:a="http://schemas.openxmlformats.org/drawingml/2006/main">
          <a:graphicData uri="http://schemas.openxmlformats.org/drawingml/2006/table">
            <a:tbl>
              <a:tblPr/>
              <a:tblGrid>
                <a:gridCol w="3333750"/>
                <a:gridCol w="7639050"/>
              </a:tblGrid>
              <a:tr h="600075">
                <a:tc>
                  <a:txBody>
                    <a:bodyPr/>
                    <a:lstStyle/>
                    <a:p>
                      <a:r>
                        <a:rPr sz="1725" b="1">
                          <a:solidFill>
                            <a:srgbClr val="FFFFFF"/>
                          </a:solidFill>
                          <a:latin typeface="Arial"/>
                          <a:ea typeface="Arial"/>
                          <a:cs typeface="Arial"/>
                        </a:rPr>
                        <a:t>Policy</a:t>
                      </a:r>
                    </a:p>
                  </a:txBody>
                  <a:tcPr marL="91440" marR="91440" marT="45720" marB="45720">
                    <a:solidFill>
                      <a:srgbClr val="10283D"/>
                    </a:solidFill>
                  </a:tcPr>
                </a:tc>
                <a:tc>
                  <a:txBody>
                    <a:bodyPr/>
                    <a:lstStyle/>
                    <a:p>
                      <a:r>
                        <a:rPr sz="1725" b="1">
                          <a:solidFill>
                            <a:srgbClr val="FFFFFF"/>
                          </a:solidFill>
                          <a:latin typeface="Arial"/>
                          <a:ea typeface="Arial"/>
                          <a:cs typeface="Arial"/>
                        </a:rPr>
                        <a:t>Stopping rule</a:t>
                      </a:r>
                    </a:p>
                  </a:txBody>
                  <a:tcPr marL="91440" marR="91440" marT="45720" marB="45720">
                    <a:solidFill>
                      <a:srgbClr val="10283D"/>
                    </a:solidFill>
                  </a:tcPr>
                </a:tc>
              </a:tr>
              <a:tr h="600075">
                <a:tc>
                  <a:txBody>
                    <a:bodyPr/>
                    <a:lstStyle/>
                    <a:p>
                      <a:r>
                        <a:rPr sz="1800" b="0">
                          <a:solidFill>
                            <a:srgbClr val="14324A"/>
                          </a:solidFill>
                          <a:latin typeface="Arial"/>
                          <a:ea typeface="Arial"/>
                          <a:cs typeface="Arial"/>
                        </a:rPr>
                        <a:t>Single</a:t>
                      </a:r>
                    </a:p>
                  </a:txBody>
                  <a:tcPr marL="91440" marR="91440" marT="45720" marB="45720">
                    <a:solidFill>
                      <a:srgbClr val="FFFFFF"/>
                    </a:solidFill>
                  </a:tcPr>
                </a:tc>
                <a:tc>
                  <a:txBody>
                    <a:bodyPr/>
                    <a:lstStyle/>
                    <a:p>
                      <a:r>
                        <a:rPr sz="1800" b="0">
                          <a:solidFill>
                            <a:srgbClr val="14324A"/>
                          </a:solidFill>
                          <a:latin typeface="Arial"/>
                          <a:ea typeface="Arial"/>
                          <a:cs typeface="Arial"/>
                        </a:rPr>
                        <a:t>One retrieval</a:t>
                      </a:r>
                    </a:p>
                  </a:txBody>
                  <a:tcPr marL="91440" marR="91440" marT="45720" marB="45720">
                    <a:solidFill>
                      <a:srgbClr val="FFFFFF"/>
                    </a:solidFill>
                  </a:tcPr>
                </a:tc>
              </a:tr>
              <a:tr h="600075">
                <a:tc>
                  <a:txBody>
                    <a:bodyPr/>
                    <a:lstStyle/>
                    <a:p>
                      <a:r>
                        <a:rPr sz="1800" b="0">
                          <a:solidFill>
                            <a:srgbClr val="14324A"/>
                          </a:solidFill>
                          <a:latin typeface="Arial"/>
                          <a:ea typeface="Arial"/>
                          <a:cs typeface="Arial"/>
                        </a:rPr>
                        <a:t>Critic-guided</a:t>
                      </a:r>
                    </a:p>
                  </a:txBody>
                  <a:tcPr marL="91440" marR="91440" marT="45720" marB="45720">
                    <a:solidFill>
                      <a:srgbClr val="EAF2F5"/>
                    </a:solidFill>
                  </a:tcPr>
                </a:tc>
                <a:tc>
                  <a:txBody>
                    <a:bodyPr/>
                    <a:lstStyle/>
                    <a:p>
                      <a:r>
                        <a:rPr sz="1800" b="0">
                          <a:solidFill>
                            <a:srgbClr val="14324A"/>
                          </a:solidFill>
                          <a:latin typeface="Arial"/>
                          <a:ea typeface="Arial"/>
                          <a:cs typeface="Arial"/>
                        </a:rPr>
                        <a:t>Sufficient critic; otherwise guard or budget</a:t>
                      </a:r>
                    </a:p>
                  </a:txBody>
                  <a:tcPr marL="91440" marR="91440" marT="45720" marB="45720">
                    <a:solidFill>
                      <a:srgbClr val="EAF2F5"/>
                    </a:solidFill>
                  </a:tcPr>
                </a:tc>
              </a:tr>
              <a:tr h="600075">
                <a:tc>
                  <a:txBody>
                    <a:bodyPr/>
                    <a:lstStyle/>
                    <a:p>
                      <a:r>
                        <a:rPr sz="1800" b="0">
                          <a:solidFill>
                            <a:srgbClr val="14324A"/>
                          </a:solidFill>
                          <a:latin typeface="Arial"/>
                          <a:ea typeface="Arial"/>
                          <a:cs typeface="Arial"/>
                        </a:rPr>
                        <a:t>Learned</a:t>
                      </a:r>
                    </a:p>
                  </a:txBody>
                  <a:tcPr marL="91440" marR="91440" marT="45720" marB="45720">
                    <a:solidFill>
                      <a:srgbClr val="FFFFFF"/>
                    </a:solidFill>
                  </a:tcPr>
                </a:tc>
                <a:tc>
                  <a:txBody>
                    <a:bodyPr/>
                    <a:lstStyle/>
                    <a:p>
                      <a:r>
                        <a:rPr sz="1800" b="0">
                          <a:solidFill>
                            <a:srgbClr val="14324A"/>
                          </a:solidFill>
                          <a:latin typeface="Arial"/>
                          <a:ea typeface="Arial"/>
                          <a:cs typeface="Arial"/>
                        </a:rPr>
                        <a:t>Saved classifier; otherwise guard or budget</a:t>
                      </a:r>
                    </a:p>
                  </a:txBody>
                  <a:tcPr marL="91440" marR="91440" marT="45720" marB="45720">
                    <a:solidFill>
                      <a:srgbClr val="FFFFFF"/>
                    </a:solidFill>
                  </a:tcPr>
                </a:tc>
              </a:tr>
              <a:tr h="600075">
                <a:tc>
                  <a:txBody>
                    <a:bodyPr/>
                    <a:lstStyle/>
                    <a:p>
                      <a:r>
                        <a:rPr sz="1800" b="0">
                          <a:solidFill>
                            <a:srgbClr val="14324A"/>
                          </a:solidFill>
                          <a:latin typeface="Arial"/>
                          <a:ea typeface="Arial"/>
                          <a:cs typeface="Arial"/>
                        </a:rPr>
                        <a:t>Fixed budget</a:t>
                      </a:r>
                    </a:p>
                  </a:txBody>
                  <a:tcPr marL="91440" marR="91440" marT="45720" marB="45720">
                    <a:solidFill>
                      <a:srgbClr val="EAF2F5"/>
                    </a:solidFill>
                  </a:tcPr>
                </a:tc>
                <a:tc>
                  <a:txBody>
                    <a:bodyPr/>
                    <a:lstStyle/>
                    <a:p>
                      <a:r>
                        <a:rPr sz="1800" b="0">
                          <a:solidFill>
                            <a:srgbClr val="14324A"/>
                          </a:solidFill>
                          <a:latin typeface="Arial"/>
                          <a:ea typeface="Arial"/>
                          <a:cs typeface="Arial"/>
                        </a:rPr>
                        <a:t>Exactly three retrieval calls</a:t>
                      </a:r>
                    </a:p>
                  </a:txBody>
                  <a:tcPr marL="91440" marR="91440" marT="45720" marB="45720">
                    <a:solidFill>
                      <a:srgbClr val="EAF2F5"/>
                    </a:solidFill>
                  </a:tcPr>
                </a:tc>
              </a:tr>
            </a:tbl>
          </a:graphicData>
        </a:graphic>
      </p:graphicFrame>
    </p:spTree>
    <p:extLst>
      <p:ext uri="{BB962C8B-B14F-4D97-AF65-F5344CB8AC3E}">
        <p14:creationId xmlns:p14="http://schemas.microsoft.com/office/powerpoint/2010/main" val="1344842294"/>
      </p:ext>
    </p:extLst>
  </p:cSld>
</p:sld>
</file>

<file path=ppt/slides/slide12.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4E3193E-F097-42B7-8AE5-430676746AE7}"/>
              </a:ext>
            </a:extLst>
          </p:cNvPr>
          <p:cNvSpPr>
            <a:spLocks xmlns:a="http://schemas.openxmlformats.org/drawingml/2006/main" noGrp="1"/>
          </p:cNvSpPr>
          <p:nvPr/>
        </p:nvSpPr>
        <p:spPr>
          <a:xfrm xmlns:a="http://schemas.openxmlformats.org/drawingml/2006/main">
            <a:off x="609600" y="409575"/>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000" b="1">
                <a:solidFill>
                  <a:srgbClr val="14324A"/>
                </a:solidFill>
                <a:latin typeface="Arial"/>
                <a:ea typeface="Arial"/>
                <a:cs typeface="Arial"/>
              </a:defRPr>
            </a:defPPr>
          </a:lstStyle>
          <a:p xmlns:a="http://schemas.openxmlformats.org/drawingml/2006/main">
            <a:pPr>
              <a:defRPr sz="3000" b="1">
                <a:solidFill>
                  <a:srgbClr val="14324A"/>
                </a:solidFill>
                <a:latin typeface="Arial"/>
                <a:ea typeface="Arial"/>
                <a:cs typeface="Arial"/>
              </a:defRPr>
            </a:pPr>
            <a:r>
              <a:rPr sz="3000" b="1">
                <a:solidFill>
                  <a:srgbClr val="14324A"/>
                </a:solidFill>
                <a:latin typeface="Arial"/>
                <a:ea typeface="Arial"/>
                <a:cs typeface="Arial"/>
              </a:rPr>
              <a:t>Fresh development run: no universal winner</a:t>
            </a:r>
          </a:p>
        </p:txBody>
      </p:sp>
      <p:sp>
        <p:nvSpPr>
          <p:cNvPr id="2" name="">
            <a:extLst xmlns:a="http://schemas.openxmlformats.org/drawingml/2006/main">
              <a:ext uri="{FF2B5EF4-FFF2-40B4-BE49-F238E27FC236}">
                <a16:creationId xmlns:a16="http://schemas.microsoft.com/office/drawing/2014/main" id="{0C5A7E71-0CC6-45D0-9221-223656FB3C49}"/>
              </a:ext>
            </a:extLst>
          </p:cNvPr>
          <p:cNvSpPr>
            <a:spLocks xmlns:a="http://schemas.openxmlformats.org/drawingml/2006/main" noGrp="1"/>
          </p:cNvSpPr>
          <p:nvPr/>
        </p:nvSpPr>
        <p:spPr>
          <a:xfrm xmlns:a="http://schemas.openxmlformats.org/drawingml/2006/main">
            <a:off x="609600" y="64198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2697B"/>
                </a:solidFill>
                <a:latin typeface="Arial"/>
                <a:ea typeface="Arial"/>
                <a:cs typeface="Arial"/>
              </a:defRPr>
            </a:defPPr>
          </a:lstStyle>
          <a:p xmlns:a="http://schemas.openxmlformats.org/drawingml/2006/main">
            <a:pPr>
              <a:defRPr sz="1200" b="0">
                <a:solidFill>
                  <a:srgbClr val="52697B"/>
                </a:solidFill>
                <a:latin typeface="Arial"/>
                <a:ea typeface="Arial"/>
                <a:cs typeface="Arial"/>
              </a:defRPr>
            </a:pPr>
            <a:r>
              <a:rPr sz="1200" b="0">
                <a:solidFill>
                  <a:srgbClr val="52697B"/>
                </a:solidFill>
                <a:latin typeface="Arial"/>
                <a:ea typeface="Arial"/>
                <a:cs typeface="Arial"/>
              </a:rPr>
              <a:t>12  |  REVIEW 3 · HR KNOWLEDGE ASSISTANT</a:t>
            </a:r>
          </a:p>
        </p:txBody>
      </p:sp>
      <p:graphicFrame>
        <p:nvGraphicFramePr>
          <p:cNvPr id="3" name="Chart">
            <a:extLst xmlns:a="http://schemas.openxmlformats.org/drawingml/2006/main">
              <a:ext uri="{FF2B5EF4-FFF2-40B4-BE49-F238E27FC236}">
                <a16:creationId xmlns:a16="http://schemas.microsoft.com/office/drawing/2014/main" id="{64B0960F-AFE7-4977-8030-D532FD5E3BB2}"/>
              </a:ext>
            </a:extLst>
          </p:cNvPr>
          <p:cNvGraphicFramePr/>
          <p:nvPr/>
        </p:nvGraphicFramePr>
        <p:xfrm>
          <a:off xmlns:a="http://schemas.openxmlformats.org/drawingml/2006/main" x="857250" y="1857375"/>
          <a:ext xmlns:a="http://schemas.openxmlformats.org/drawingml/2006/main" cx="10287000" cy="3238500"/>
        </p:xfrm>
        <a:graphic xmlns:a="http://schemas.openxmlformats.org/drawingml/2006/main">
          <a:graphicData uri="http://schemas.openxmlformats.org/drawingml/2006/chart">
            <c:chart xmlns:r="http://schemas.openxmlformats.org/officeDocument/2006/relationships" xmlns:c="http://schemas.openxmlformats.org/drawingml/2006/chart" r:id="R434725cdb0274bde"/>
          </a:graphicData>
        </a:graphic>
      </p:graphicFrame>
      <p:sp>
        <p:nvSpPr>
          <p:cNvPr id="4" name="">
            <a:extLst xmlns:a="http://schemas.openxmlformats.org/drawingml/2006/main">
              <a:ext uri="{FF2B5EF4-FFF2-40B4-BE49-F238E27FC236}">
                <a16:creationId xmlns:a16="http://schemas.microsoft.com/office/drawing/2014/main" id="{89EF27D5-9B63-4B21-B4E9-A0050F92BA38}"/>
              </a:ext>
            </a:extLst>
          </p:cNvPr>
          <p:cNvSpPr>
            <a:spLocks xmlns:a="http://schemas.openxmlformats.org/drawingml/2006/main" noGrp="1"/>
          </p:cNvSpPr>
          <p:nvPr/>
        </p:nvSpPr>
        <p:spPr>
          <a:xfrm xmlns:a="http://schemas.openxmlformats.org/drawingml/2006/main">
            <a:off x="666750" y="5381625"/>
            <a:ext cx="10477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52697B"/>
                </a:solidFill>
                <a:latin typeface="Arial"/>
                <a:ea typeface="Arial"/>
                <a:cs typeface="Arial"/>
              </a:defRPr>
            </a:defPPr>
          </a:lstStyle>
          <a:p xmlns:a="http://schemas.openxmlformats.org/drawingml/2006/main">
            <a:pPr>
              <a:defRPr sz="1950" b="0">
                <a:solidFill>
                  <a:srgbClr val="52697B"/>
                </a:solidFill>
                <a:latin typeface="Arial"/>
                <a:ea typeface="Arial"/>
                <a:cs typeface="Arial"/>
              </a:defRPr>
            </a:pPr>
            <a:r>
              <a:rPr sz="1950" b="0">
                <a:solidFill>
                  <a:srgbClr val="52697B"/>
                </a:solidFill>
                <a:latin typeface="Arial"/>
                <a:ea typeface="Arial"/>
                <a:cs typeface="Arial"/>
              </a:rPr>
              <a:t>4 known questions × 4 policies × 3 repetitions · retrieval only</a:t>
            </a:r>
          </a:p>
        </p:txBody>
      </p:sp>
    </p:spTree>
    <p:extLst>
      <p:ext uri="{BB962C8B-B14F-4D97-AF65-F5344CB8AC3E}">
        <p14:creationId xmlns:p14="http://schemas.microsoft.com/office/powerpoint/2010/main" val="1584482437"/>
      </p:ext>
    </p:extLst>
  </p:cSld>
</p:sld>
</file>

<file path=ppt/slides/slide13.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F85E7BA-F5A5-4B35-B20C-547B9C601E8B}"/>
              </a:ext>
            </a:extLst>
          </p:cNvPr>
          <p:cNvSpPr>
            <a:spLocks xmlns:a="http://schemas.openxmlformats.org/drawingml/2006/main" noGrp="1"/>
          </p:cNvSpPr>
          <p:nvPr/>
        </p:nvSpPr>
        <p:spPr>
          <a:xfrm xmlns:a="http://schemas.openxmlformats.org/drawingml/2006/main">
            <a:off x="609600" y="409575"/>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000" b="1">
                <a:solidFill>
                  <a:srgbClr val="14324A"/>
                </a:solidFill>
                <a:latin typeface="Arial"/>
                <a:ea typeface="Arial"/>
                <a:cs typeface="Arial"/>
              </a:defRPr>
            </a:defPPr>
          </a:lstStyle>
          <a:p xmlns:a="http://schemas.openxmlformats.org/drawingml/2006/main">
            <a:pPr>
              <a:defRPr sz="3000" b="1">
                <a:solidFill>
                  <a:srgbClr val="14324A"/>
                </a:solidFill>
                <a:latin typeface="Arial"/>
                <a:ea typeface="Arial"/>
                <a:cs typeface="Arial"/>
              </a:defRPr>
            </a:pPr>
            <a:r>
              <a:rPr sz="3000" b="1">
                <a:solidFill>
                  <a:srgbClr val="14324A"/>
                </a:solidFill>
                <a:latin typeface="Arial"/>
                <a:ea typeface="Arial"/>
                <a:cs typeface="Arial"/>
              </a:rPr>
              <a:t>Final critic scores can worsen after more retrieval</a:t>
            </a:r>
          </a:p>
        </p:txBody>
      </p:sp>
      <p:sp>
        <p:nvSpPr>
          <p:cNvPr id="2" name="">
            <a:extLst xmlns:a="http://schemas.openxmlformats.org/drawingml/2006/main">
              <a:ext uri="{FF2B5EF4-FFF2-40B4-BE49-F238E27FC236}">
                <a16:creationId xmlns:a16="http://schemas.microsoft.com/office/drawing/2014/main" id="{D6E7AF35-3493-484D-B2E5-5149C5AEAE3D}"/>
              </a:ext>
            </a:extLst>
          </p:cNvPr>
          <p:cNvSpPr>
            <a:spLocks xmlns:a="http://schemas.openxmlformats.org/drawingml/2006/main" noGrp="1"/>
          </p:cNvSpPr>
          <p:nvPr/>
        </p:nvSpPr>
        <p:spPr>
          <a:xfrm xmlns:a="http://schemas.openxmlformats.org/drawingml/2006/main">
            <a:off x="609600" y="64198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2697B"/>
                </a:solidFill>
                <a:latin typeface="Arial"/>
                <a:ea typeface="Arial"/>
                <a:cs typeface="Arial"/>
              </a:defRPr>
            </a:defPPr>
          </a:lstStyle>
          <a:p xmlns:a="http://schemas.openxmlformats.org/drawingml/2006/main">
            <a:pPr>
              <a:defRPr sz="1200" b="0">
                <a:solidFill>
                  <a:srgbClr val="52697B"/>
                </a:solidFill>
                <a:latin typeface="Arial"/>
                <a:ea typeface="Arial"/>
                <a:cs typeface="Arial"/>
              </a:defRPr>
            </a:pPr>
            <a:r>
              <a:rPr sz="1200" b="0">
                <a:solidFill>
                  <a:srgbClr val="52697B"/>
                </a:solidFill>
                <a:latin typeface="Arial"/>
                <a:ea typeface="Arial"/>
                <a:cs typeface="Arial"/>
              </a:rPr>
              <a:t>13  |  REVIEW 3 · HR KNOWLEDGE ASSISTANT</a:t>
            </a:r>
          </a:p>
        </p:txBody>
      </p:sp>
      <p:graphicFrame>
        <p:nvGraphicFramePr>
          <p:cNvPr id="3" name="">
            <a:extLst xmlns:a="http://schemas.openxmlformats.org/drawingml/2006/main">
              <a:ext uri="{FF2B5EF4-FFF2-40B4-BE49-F238E27FC236}">
                <a16:creationId xmlns:a16="http://schemas.microsoft.com/office/drawing/2014/main" id="{DD67371A-1442-4F5C-9E91-9D5B550483CF}"/>
              </a:ext>
            </a:extLst>
          </p:cNvPr>
          <p:cNvGraphicFramePr/>
          <p:nvPr/>
        </p:nvGraphicFramePr>
        <p:xfrm>
          <a:off xmlns:a="http://schemas.openxmlformats.org/drawingml/2006/main" x="609600" y="1714500"/>
          <a:ext xmlns:a="http://schemas.openxmlformats.org/drawingml/2006/main" cx="10972800" cy="3000375"/>
        </p:xfrm>
        <a:graphic xmlns:a="http://schemas.openxmlformats.org/drawingml/2006/main">
          <a:graphicData uri="http://schemas.openxmlformats.org/drawingml/2006/table">
            <a:tbl>
              <a:tblPr/>
              <a:tblGrid>
                <a:gridCol w="2476500"/>
                <a:gridCol w="2095500"/>
                <a:gridCol w="2952750"/>
                <a:gridCol w="3448050"/>
              </a:tblGrid>
              <a:tr h="600075">
                <a:tc>
                  <a:txBody>
                    <a:bodyPr/>
                    <a:lstStyle/>
                    <a:p>
                      <a:r>
                        <a:rPr sz="1725" b="1">
                          <a:solidFill>
                            <a:srgbClr val="FFFFFF"/>
                          </a:solidFill>
                          <a:latin typeface="Arial"/>
                          <a:ea typeface="Arial"/>
                          <a:cs typeface="Arial"/>
                        </a:rPr>
                        <a:t>Policy</a:t>
                      </a:r>
                    </a:p>
                  </a:txBody>
                  <a:tcPr marL="91440" marR="91440" marT="45720" marB="45720">
                    <a:solidFill>
                      <a:srgbClr val="10283D"/>
                    </a:solidFill>
                  </a:tcPr>
                </a:tc>
                <a:tc>
                  <a:txBody>
                    <a:bodyPr/>
                    <a:lstStyle/>
                    <a:p>
                      <a:r>
                        <a:rPr sz="1725" b="1">
                          <a:solidFill>
                            <a:srgbClr val="FFFFFF"/>
                          </a:solidFill>
                          <a:latin typeface="Arial"/>
                          <a:ea typeface="Arial"/>
                          <a:cs typeface="Arial"/>
                        </a:rPr>
                        <a:t>Attempts</a:t>
                      </a:r>
                    </a:p>
                  </a:txBody>
                  <a:tcPr marL="91440" marR="91440" marT="45720" marB="45720">
                    <a:solidFill>
                      <a:srgbClr val="10283D"/>
                    </a:solidFill>
                  </a:tcPr>
                </a:tc>
                <a:tc>
                  <a:txBody>
                    <a:bodyPr/>
                    <a:lstStyle/>
                    <a:p>
                      <a:r>
                        <a:rPr sz="1725" b="1">
                          <a:solidFill>
                            <a:srgbClr val="FFFFFF"/>
                          </a:solidFill>
                          <a:latin typeface="Arial"/>
                          <a:ea typeface="Arial"/>
                          <a:cs typeface="Arial"/>
                        </a:rPr>
                        <a:t>Critic sufficient</a:t>
                      </a:r>
                    </a:p>
                  </a:txBody>
                  <a:tcPr marL="91440" marR="91440" marT="45720" marB="45720">
                    <a:solidFill>
                      <a:srgbClr val="10283D"/>
                    </a:solidFill>
                  </a:tcPr>
                </a:tc>
                <a:tc>
                  <a:txBody>
                    <a:bodyPr/>
                    <a:lstStyle/>
                    <a:p>
                      <a:r>
                        <a:rPr sz="1725" b="1">
                          <a:solidFill>
                            <a:srgbClr val="FFFFFF"/>
                          </a:solidFill>
                          <a:latin typeface="Arial"/>
                          <a:ea typeface="Arial"/>
                          <a:cs typeface="Arial"/>
                        </a:rPr>
                        <a:t>Human correctness</a:t>
                      </a:r>
                    </a:p>
                  </a:txBody>
                  <a:tcPr marL="91440" marR="91440" marT="45720" marB="45720">
                    <a:solidFill>
                      <a:srgbClr val="10283D"/>
                    </a:solidFill>
                  </a:tcPr>
                </a:tc>
              </a:tr>
              <a:tr h="600075">
                <a:tc>
                  <a:txBody>
                    <a:bodyPr/>
                    <a:lstStyle/>
                    <a:p>
                      <a:r>
                        <a:rPr sz="1800" b="0">
                          <a:solidFill>
                            <a:srgbClr val="14324A"/>
                          </a:solidFill>
                          <a:latin typeface="Arial"/>
                          <a:ea typeface="Arial"/>
                          <a:cs typeface="Arial"/>
                        </a:rPr>
                        <a:t>learned</a:t>
                      </a:r>
                    </a:p>
                  </a:txBody>
                  <a:tcPr marL="91440" marR="91440" marT="45720" marB="45720">
                    <a:solidFill>
                      <a:srgbClr val="FFFFFF"/>
                    </a:solidFill>
                  </a:tcPr>
                </a:tc>
                <a:tc>
                  <a:txBody>
                    <a:bodyPr/>
                    <a:lstStyle/>
                    <a:p>
                      <a:r>
                        <a:rPr sz="1800" b="0">
                          <a:solidFill>
                            <a:srgbClr val="14324A"/>
                          </a:solidFill>
                          <a:latin typeface="Arial"/>
                          <a:ea typeface="Arial"/>
                          <a:cs typeface="Arial"/>
                        </a:rPr>
                        <a:t>1.50</a:t>
                      </a:r>
                    </a:p>
                  </a:txBody>
                  <a:tcPr marL="91440" marR="91440" marT="45720" marB="45720">
                    <a:solidFill>
                      <a:srgbClr val="FFFFFF"/>
                    </a:solidFill>
                  </a:tcPr>
                </a:tc>
                <a:tc>
                  <a:txBody>
                    <a:bodyPr/>
                    <a:lstStyle/>
                    <a:p>
                      <a:r>
                        <a:rPr sz="1800" b="0">
                          <a:solidFill>
                            <a:srgbClr val="14324A"/>
                          </a:solidFill>
                          <a:latin typeface="Arial"/>
                          <a:ea typeface="Arial"/>
                          <a:cs typeface="Arial"/>
                        </a:rPr>
                        <a:t>25%</a:t>
                      </a:r>
                    </a:p>
                  </a:txBody>
                  <a:tcPr marL="91440" marR="91440" marT="45720" marB="45720">
                    <a:solidFill>
                      <a:srgbClr val="FFFFFF"/>
                    </a:solidFill>
                  </a:tcPr>
                </a:tc>
                <a:tc>
                  <a:txBody>
                    <a:bodyPr/>
                    <a:lstStyle/>
                    <a:p>
                      <a:r>
                        <a:rPr sz="1800" b="0">
                          <a:solidFill>
                            <a:srgbClr val="14324A"/>
                          </a:solidFill>
                          <a:latin typeface="Arial"/>
                          <a:ea typeface="Arial"/>
                          <a:cs typeface="Arial"/>
                        </a:rPr>
                        <a:t>Not measured</a:t>
                      </a:r>
                    </a:p>
                  </a:txBody>
                  <a:tcPr marL="91440" marR="91440" marT="45720" marB="45720">
                    <a:solidFill>
                      <a:srgbClr val="FFFFFF"/>
                    </a:solidFill>
                  </a:tcPr>
                </a:tc>
              </a:tr>
              <a:tr h="600075">
                <a:tc>
                  <a:txBody>
                    <a:bodyPr/>
                    <a:lstStyle/>
                    <a:p>
                      <a:r>
                        <a:rPr sz="1800" b="0">
                          <a:solidFill>
                            <a:srgbClr val="14324A"/>
                          </a:solidFill>
                          <a:latin typeface="Arial"/>
                          <a:ea typeface="Arial"/>
                          <a:cs typeface="Arial"/>
                        </a:rPr>
                        <a:t>critic</a:t>
                      </a:r>
                    </a:p>
                  </a:txBody>
                  <a:tcPr marL="91440" marR="91440" marT="45720" marB="45720">
                    <a:solidFill>
                      <a:srgbClr val="EAF2F5"/>
                    </a:solidFill>
                  </a:tcPr>
                </a:tc>
                <a:tc>
                  <a:txBody>
                    <a:bodyPr/>
                    <a:lstStyle/>
                    <a:p>
                      <a:r>
                        <a:rPr sz="1800" b="0">
                          <a:solidFill>
                            <a:srgbClr val="14324A"/>
                          </a:solidFill>
                          <a:latin typeface="Arial"/>
                          <a:ea typeface="Arial"/>
                          <a:cs typeface="Arial"/>
                        </a:rPr>
                        <a:t>1.25</a:t>
                      </a:r>
                    </a:p>
                  </a:txBody>
                  <a:tcPr marL="91440" marR="91440" marT="45720" marB="45720">
                    <a:solidFill>
                      <a:srgbClr val="EAF2F5"/>
                    </a:solidFill>
                  </a:tcPr>
                </a:tc>
                <a:tc>
                  <a:txBody>
                    <a:bodyPr/>
                    <a:lstStyle/>
                    <a:p>
                      <a:r>
                        <a:rPr sz="1800" b="0">
                          <a:solidFill>
                            <a:srgbClr val="14324A"/>
                          </a:solidFill>
                          <a:latin typeface="Arial"/>
                          <a:ea typeface="Arial"/>
                          <a:cs typeface="Arial"/>
                        </a:rPr>
                        <a:t>50%</a:t>
                      </a:r>
                    </a:p>
                  </a:txBody>
                  <a:tcPr marL="91440" marR="91440" marT="45720" marB="45720">
                    <a:solidFill>
                      <a:srgbClr val="EAF2F5"/>
                    </a:solidFill>
                  </a:tcPr>
                </a:tc>
                <a:tc>
                  <a:txBody>
                    <a:bodyPr/>
                    <a:lstStyle/>
                    <a:p>
                      <a:r>
                        <a:rPr sz="1800" b="0">
                          <a:solidFill>
                            <a:srgbClr val="14324A"/>
                          </a:solidFill>
                          <a:latin typeface="Arial"/>
                          <a:ea typeface="Arial"/>
                          <a:cs typeface="Arial"/>
                        </a:rPr>
                        <a:t>Not measured</a:t>
                      </a:r>
                    </a:p>
                  </a:txBody>
                  <a:tcPr marL="91440" marR="91440" marT="45720" marB="45720">
                    <a:solidFill>
                      <a:srgbClr val="EAF2F5"/>
                    </a:solidFill>
                  </a:tcPr>
                </a:tc>
              </a:tr>
              <a:tr h="600075">
                <a:tc>
                  <a:txBody>
                    <a:bodyPr/>
                    <a:lstStyle/>
                    <a:p>
                      <a:r>
                        <a:rPr sz="1800" b="0">
                          <a:solidFill>
                            <a:srgbClr val="14324A"/>
                          </a:solidFill>
                          <a:latin typeface="Arial"/>
                          <a:ea typeface="Arial"/>
                          <a:cs typeface="Arial"/>
                        </a:rPr>
                        <a:t>single</a:t>
                      </a:r>
                    </a:p>
                  </a:txBody>
                  <a:tcPr marL="91440" marR="91440" marT="45720" marB="45720">
                    <a:solidFill>
                      <a:srgbClr val="FFFFFF"/>
                    </a:solidFill>
                  </a:tcPr>
                </a:tc>
                <a:tc>
                  <a:txBody>
                    <a:bodyPr/>
                    <a:lstStyle/>
                    <a:p>
                      <a:r>
                        <a:rPr sz="1800" b="0">
                          <a:solidFill>
                            <a:srgbClr val="14324A"/>
                          </a:solidFill>
                          <a:latin typeface="Arial"/>
                          <a:ea typeface="Arial"/>
                          <a:cs typeface="Arial"/>
                        </a:rPr>
                        <a:t>1.00</a:t>
                      </a:r>
                    </a:p>
                  </a:txBody>
                  <a:tcPr marL="91440" marR="91440" marT="45720" marB="45720">
                    <a:solidFill>
                      <a:srgbClr val="FFFFFF"/>
                    </a:solidFill>
                  </a:tcPr>
                </a:tc>
                <a:tc>
                  <a:txBody>
                    <a:bodyPr/>
                    <a:lstStyle/>
                    <a:p>
                      <a:r>
                        <a:rPr sz="1800" b="0">
                          <a:solidFill>
                            <a:srgbClr val="14324A"/>
                          </a:solidFill>
                          <a:latin typeface="Arial"/>
                          <a:ea typeface="Arial"/>
                          <a:cs typeface="Arial"/>
                        </a:rPr>
                        <a:t>50%</a:t>
                      </a:r>
                    </a:p>
                  </a:txBody>
                  <a:tcPr marL="91440" marR="91440" marT="45720" marB="45720">
                    <a:solidFill>
                      <a:srgbClr val="FFFFFF"/>
                    </a:solidFill>
                  </a:tcPr>
                </a:tc>
                <a:tc>
                  <a:txBody>
                    <a:bodyPr/>
                    <a:lstStyle/>
                    <a:p>
                      <a:r>
                        <a:rPr sz="1800" b="0">
                          <a:solidFill>
                            <a:srgbClr val="14324A"/>
                          </a:solidFill>
                          <a:latin typeface="Arial"/>
                          <a:ea typeface="Arial"/>
                          <a:cs typeface="Arial"/>
                        </a:rPr>
                        <a:t>Not measured</a:t>
                      </a:r>
                    </a:p>
                  </a:txBody>
                  <a:tcPr marL="91440" marR="91440" marT="45720" marB="45720">
                    <a:solidFill>
                      <a:srgbClr val="FFFFFF"/>
                    </a:solidFill>
                  </a:tcPr>
                </a:tc>
              </a:tr>
              <a:tr h="600075">
                <a:tc>
                  <a:txBody>
                    <a:bodyPr/>
                    <a:lstStyle/>
                    <a:p>
                      <a:r>
                        <a:rPr sz="1800" b="0">
                          <a:solidFill>
                            <a:srgbClr val="14324A"/>
                          </a:solidFill>
                          <a:latin typeface="Arial"/>
                          <a:ea typeface="Arial"/>
                          <a:cs typeface="Arial"/>
                        </a:rPr>
                        <a:t>budget</a:t>
                      </a:r>
                    </a:p>
                  </a:txBody>
                  <a:tcPr marL="91440" marR="91440" marT="45720" marB="45720">
                    <a:solidFill>
                      <a:srgbClr val="EAF2F5"/>
                    </a:solidFill>
                  </a:tcPr>
                </a:tc>
                <a:tc>
                  <a:txBody>
                    <a:bodyPr/>
                    <a:lstStyle/>
                    <a:p>
                      <a:r>
                        <a:rPr sz="1800" b="0">
                          <a:solidFill>
                            <a:srgbClr val="14324A"/>
                          </a:solidFill>
                          <a:latin typeface="Arial"/>
                          <a:ea typeface="Arial"/>
                          <a:cs typeface="Arial"/>
                        </a:rPr>
                        <a:t>3.00</a:t>
                      </a:r>
                    </a:p>
                  </a:txBody>
                  <a:tcPr marL="91440" marR="91440" marT="45720" marB="45720">
                    <a:solidFill>
                      <a:srgbClr val="EAF2F5"/>
                    </a:solidFill>
                  </a:tcPr>
                </a:tc>
                <a:tc>
                  <a:txBody>
                    <a:bodyPr/>
                    <a:lstStyle/>
                    <a:p>
                      <a:r>
                        <a:rPr sz="1800" b="0">
                          <a:solidFill>
                            <a:srgbClr val="14324A"/>
                          </a:solidFill>
                          <a:latin typeface="Arial"/>
                          <a:ea typeface="Arial"/>
                          <a:cs typeface="Arial"/>
                        </a:rPr>
                        <a:t>0%</a:t>
                      </a:r>
                    </a:p>
                  </a:txBody>
                  <a:tcPr marL="91440" marR="91440" marT="45720" marB="45720">
                    <a:solidFill>
                      <a:srgbClr val="EAF2F5"/>
                    </a:solidFill>
                  </a:tcPr>
                </a:tc>
                <a:tc>
                  <a:txBody>
                    <a:bodyPr/>
                    <a:lstStyle/>
                    <a:p>
                      <a:r>
                        <a:rPr sz="1800" b="0">
                          <a:solidFill>
                            <a:srgbClr val="14324A"/>
                          </a:solidFill>
                          <a:latin typeface="Arial"/>
                          <a:ea typeface="Arial"/>
                          <a:cs typeface="Arial"/>
                        </a:rPr>
                        <a:t>Not measured</a:t>
                      </a:r>
                    </a:p>
                  </a:txBody>
                  <a:tcPr marL="91440" marR="91440" marT="45720" marB="45720">
                    <a:solidFill>
                      <a:srgbClr val="EAF2F5"/>
                    </a:solidFill>
                  </a:tcPr>
                </a:tc>
              </a:tr>
            </a:tbl>
          </a:graphicData>
        </a:graphic>
      </p:graphicFrame>
      <p:sp>
        <p:nvSpPr>
          <p:cNvPr id="4" name="">
            <a:extLst xmlns:a="http://schemas.openxmlformats.org/drawingml/2006/main">
              <a:ext uri="{FF2B5EF4-FFF2-40B4-BE49-F238E27FC236}">
                <a16:creationId xmlns:a16="http://schemas.microsoft.com/office/drawing/2014/main" id="{DFC33EF0-9866-4665-B066-744B9E1620E4}"/>
              </a:ext>
            </a:extLst>
          </p:cNvPr>
          <p:cNvSpPr>
            <a:spLocks xmlns:a="http://schemas.openxmlformats.org/drawingml/2006/main" noGrp="1"/>
          </p:cNvSpPr>
          <p:nvPr/>
        </p:nvSpPr>
        <p:spPr>
          <a:xfrm xmlns:a="http://schemas.openxmlformats.org/drawingml/2006/main">
            <a:off x="666750" y="5238750"/>
            <a:ext cx="10477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087F88"/>
                </a:solidFill>
                <a:latin typeface="Arial"/>
                <a:ea typeface="Arial"/>
                <a:cs typeface="Arial"/>
              </a:defRPr>
            </a:defPPr>
          </a:lstStyle>
          <a:p xmlns:a="http://schemas.openxmlformats.org/drawingml/2006/main">
            <a:pPr>
              <a:defRPr sz="2025" b="0">
                <a:solidFill>
                  <a:srgbClr val="087F88"/>
                </a:solidFill>
                <a:latin typeface="Arial"/>
                <a:ea typeface="Arial"/>
                <a:cs typeface="Arial"/>
              </a:defRPr>
            </a:pPr>
            <a:r>
              <a:rPr sz="2025" b="0">
                <a:solidFill>
                  <a:srgbClr val="087F88"/>
                </a:solidFill>
                <a:latin typeface="Arial"/>
                <a:ea typeface="Arial"/>
                <a:cs typeface="Arial"/>
              </a:rPr>
              <a:t>Original-question support and human answer quality must be assessed separately.</a:t>
            </a:r>
          </a:p>
        </p:txBody>
      </p:sp>
    </p:spTree>
    <p:extLst>
      <p:ext uri="{BB962C8B-B14F-4D97-AF65-F5344CB8AC3E}">
        <p14:creationId xmlns:p14="http://schemas.microsoft.com/office/powerpoint/2010/main" val="1492116908"/>
      </p:ext>
    </p:extLst>
  </p:cSld>
</p:sld>
</file>

<file path=ppt/slides/slide14.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F481192-5B5F-48BE-BF04-EE8A6597210B}"/>
              </a:ext>
            </a:extLst>
          </p:cNvPr>
          <p:cNvSpPr>
            <a:spLocks xmlns:a="http://schemas.openxmlformats.org/drawingml/2006/main" noGrp="1"/>
          </p:cNvSpPr>
          <p:nvPr/>
        </p:nvSpPr>
        <p:spPr>
          <a:xfrm xmlns:a="http://schemas.openxmlformats.org/drawingml/2006/main">
            <a:off x="609600" y="409575"/>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000" b="1">
                <a:solidFill>
                  <a:srgbClr val="14324A"/>
                </a:solidFill>
                <a:latin typeface="Arial"/>
                <a:ea typeface="Arial"/>
                <a:cs typeface="Arial"/>
              </a:defRPr>
            </a:defPPr>
          </a:lstStyle>
          <a:p xmlns:a="http://schemas.openxmlformats.org/drawingml/2006/main">
            <a:pPr>
              <a:defRPr sz="3000" b="1">
                <a:solidFill>
                  <a:srgbClr val="14324A"/>
                </a:solidFill>
                <a:latin typeface="Arial"/>
                <a:ea typeface="Arial"/>
                <a:cs typeface="Arial"/>
              </a:defRPr>
            </a:pPr>
            <a:r>
              <a:rPr sz="3000" b="1">
                <a:solidFill>
                  <a:srgbClr val="14324A"/>
                </a:solidFill>
                <a:latin typeface="Arial"/>
                <a:ea typeface="Arial"/>
                <a:cs typeface="Arial"/>
              </a:rPr>
              <a:t>API cost savings are not established</a:t>
            </a:r>
          </a:p>
        </p:txBody>
      </p:sp>
      <p:sp>
        <p:nvSpPr>
          <p:cNvPr id="2" name="">
            <a:extLst xmlns:a="http://schemas.openxmlformats.org/drawingml/2006/main">
              <a:ext uri="{FF2B5EF4-FFF2-40B4-BE49-F238E27FC236}">
                <a16:creationId xmlns:a16="http://schemas.microsoft.com/office/drawing/2014/main" id="{4C347E72-370D-4951-A2BD-A39AF40E892D}"/>
              </a:ext>
            </a:extLst>
          </p:cNvPr>
          <p:cNvSpPr>
            <a:spLocks xmlns:a="http://schemas.openxmlformats.org/drawingml/2006/main" noGrp="1"/>
          </p:cNvSpPr>
          <p:nvPr/>
        </p:nvSpPr>
        <p:spPr>
          <a:xfrm xmlns:a="http://schemas.openxmlformats.org/drawingml/2006/main">
            <a:off x="609600" y="64198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2697B"/>
                </a:solidFill>
                <a:latin typeface="Arial"/>
                <a:ea typeface="Arial"/>
                <a:cs typeface="Arial"/>
              </a:defRPr>
            </a:defPPr>
          </a:lstStyle>
          <a:p xmlns:a="http://schemas.openxmlformats.org/drawingml/2006/main">
            <a:pPr>
              <a:defRPr sz="1200" b="0">
                <a:solidFill>
                  <a:srgbClr val="52697B"/>
                </a:solidFill>
                <a:latin typeface="Arial"/>
                <a:ea typeface="Arial"/>
                <a:cs typeface="Arial"/>
              </a:defRPr>
            </a:pPr>
            <a:r>
              <a:rPr sz="1200" b="0">
                <a:solidFill>
                  <a:srgbClr val="52697B"/>
                </a:solidFill>
                <a:latin typeface="Arial"/>
                <a:ea typeface="Arial"/>
                <a:cs typeface="Arial"/>
              </a:rPr>
              <a:t>14  |  REVIEW 3 · HR KNOWLEDGE ASSISTANT</a:t>
            </a:r>
          </a:p>
        </p:txBody>
      </p:sp>
      <p:sp>
        <p:nvSpPr>
          <p:cNvPr id="3" name="">
            <a:extLst xmlns:a="http://schemas.openxmlformats.org/drawingml/2006/main">
              <a:ext uri="{FF2B5EF4-FFF2-40B4-BE49-F238E27FC236}">
                <a16:creationId xmlns:a16="http://schemas.microsoft.com/office/drawing/2014/main" id="{F6C9D5B6-D124-41B1-A6AC-D10D9C2D36CD}"/>
              </a:ext>
            </a:extLst>
          </p:cNvPr>
          <p:cNvSpPr>
            <a:spLocks xmlns:a="http://schemas.openxmlformats.org/drawingml/2006/main" noGrp="1"/>
          </p:cNvSpPr>
          <p:nvPr/>
        </p:nvSpPr>
        <p:spPr>
          <a:xfrm xmlns:a="http://schemas.openxmlformats.org/drawingml/2006/main">
            <a:off x="666750" y="1524000"/>
            <a:ext cx="1047750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4324A"/>
                </a:solidFill>
                <a:latin typeface="Arial"/>
                <a:ea typeface="Arial"/>
                <a:cs typeface="Arial"/>
              </a:defRPr>
            </a:defPPr>
          </a:lstStyle>
          <a:p xmlns:a="http://schemas.openxmlformats.org/drawingml/2006/main">
            <a:pPr>
              <a:defRPr sz="2100" b="0">
                <a:solidFill>
                  <a:srgbClr val="14324A"/>
                </a:solidFill>
                <a:latin typeface="Arial"/>
                <a:ea typeface="Arial"/>
                <a:cs typeface="Arial"/>
              </a:defRPr>
            </a:pPr>
            <a:r>
              <a:rPr sz="2100" b="0">
                <a:solidFill>
                  <a:srgbClr val="14324A"/>
                </a:solidFill>
                <a:latin typeface="Arial"/>
                <a:ea typeface="Arial"/>
                <a:cs typeface="Arial"/>
              </a:rPr>
              <a:t>Critic, rewriter and halting policy run locally.</a:t>
            </a:r>
          </a:p>
        </p:txBody>
      </p:sp>
      <p:sp>
        <p:nvSpPr>
          <p:cNvPr id="4" name="">
            <a:extLst xmlns:a="http://schemas.openxmlformats.org/drawingml/2006/main">
              <a:ext uri="{FF2B5EF4-FFF2-40B4-BE49-F238E27FC236}">
                <a16:creationId xmlns:a16="http://schemas.microsoft.com/office/drawing/2014/main" id="{231D881B-3E68-4A57-BC8C-1CAF3D03C4D7}"/>
              </a:ext>
            </a:extLst>
          </p:cNvPr>
          <p:cNvSpPr>
            <a:spLocks xmlns:a="http://schemas.openxmlformats.org/drawingml/2006/main" noGrp="1"/>
          </p:cNvSpPr>
          <p:nvPr/>
        </p:nvSpPr>
        <p:spPr>
          <a:xfrm xmlns:a="http://schemas.openxmlformats.org/drawingml/2006/main">
            <a:off x="666750" y="2524125"/>
            <a:ext cx="1047750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4324A"/>
                </a:solidFill>
                <a:latin typeface="Arial"/>
                <a:ea typeface="Arial"/>
                <a:cs typeface="Arial"/>
              </a:defRPr>
            </a:defPPr>
          </a:lstStyle>
          <a:p xmlns:a="http://schemas.openxmlformats.org/drawingml/2006/main">
            <a:pPr>
              <a:defRPr sz="2100" b="0">
                <a:solidFill>
                  <a:srgbClr val="14324A"/>
                </a:solidFill>
                <a:latin typeface="Arial"/>
                <a:ea typeface="Arial"/>
                <a:cs typeface="Arial"/>
              </a:defRPr>
            </a:pPr>
            <a:r>
              <a:rPr sz="2100" b="0">
                <a:solidFill>
                  <a:srgbClr val="14324A"/>
                </a:solidFill>
                <a:latin typeface="Arial"/>
                <a:ea typeface="Arial"/>
                <a:cs typeface="Arial"/>
              </a:rPr>
              <a:t>Gemini is used for final generation; context length can change token cost.</a:t>
            </a:r>
          </a:p>
        </p:txBody>
      </p:sp>
      <p:sp>
        <p:nvSpPr>
          <p:cNvPr id="5" name="">
            <a:extLst xmlns:a="http://schemas.openxmlformats.org/drawingml/2006/main">
              <a:ext uri="{FF2B5EF4-FFF2-40B4-BE49-F238E27FC236}">
                <a16:creationId xmlns:a16="http://schemas.microsoft.com/office/drawing/2014/main" id="{A4849B53-A333-45ED-B99F-6AAAAD96D9F2}"/>
              </a:ext>
            </a:extLst>
          </p:cNvPr>
          <p:cNvSpPr>
            <a:spLocks xmlns:a="http://schemas.openxmlformats.org/drawingml/2006/main" noGrp="1"/>
          </p:cNvSpPr>
          <p:nvPr/>
        </p:nvSpPr>
        <p:spPr>
          <a:xfrm xmlns:a="http://schemas.openxmlformats.org/drawingml/2006/main">
            <a:off x="666750" y="3524250"/>
            <a:ext cx="1047750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4324A"/>
                </a:solidFill>
                <a:latin typeface="Arial"/>
                <a:ea typeface="Arial"/>
                <a:cs typeface="Arial"/>
              </a:defRPr>
            </a:defPPr>
          </a:lstStyle>
          <a:p xmlns:a="http://schemas.openxmlformats.org/drawingml/2006/main">
            <a:pPr>
              <a:defRPr sz="2100" b="0">
                <a:solidFill>
                  <a:srgbClr val="14324A"/>
                </a:solidFill>
                <a:latin typeface="Arial"/>
                <a:ea typeface="Arial"/>
                <a:cs typeface="Arial"/>
              </a:defRPr>
            </a:pPr>
            <a:r>
              <a:rPr sz="2100" b="0">
                <a:solidFill>
                  <a:srgbClr val="14324A"/>
                </a:solidFill>
                <a:latin typeface="Arial"/>
                <a:ea typeface="Arial"/>
                <a:cs typeface="Arial"/>
              </a:rPr>
              <a:t>No fresh matched successful API pairs; no monetary reduction claim.</a:t>
            </a:r>
          </a:p>
        </p:txBody>
      </p:sp>
      <p:sp>
        <p:nvSpPr>
          <p:cNvPr id="6" name="">
            <a:extLst xmlns:a="http://schemas.openxmlformats.org/drawingml/2006/main">
              <a:ext uri="{FF2B5EF4-FFF2-40B4-BE49-F238E27FC236}">
                <a16:creationId xmlns:a16="http://schemas.microsoft.com/office/drawing/2014/main" id="{01E9B997-56E5-4EE9-ADF9-5596E3A5B2F7}"/>
              </a:ext>
            </a:extLst>
          </p:cNvPr>
          <p:cNvSpPr>
            <a:spLocks xmlns:a="http://schemas.openxmlformats.org/drawingml/2006/main" noGrp="1"/>
          </p:cNvSpPr>
          <p:nvPr/>
        </p:nvSpPr>
        <p:spPr>
          <a:xfrm xmlns:a="http://schemas.openxmlformats.org/drawingml/2006/main">
            <a:off x="666750" y="4524375"/>
            <a:ext cx="1047750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4324A"/>
                </a:solidFill>
                <a:latin typeface="Arial"/>
                <a:ea typeface="Arial"/>
                <a:cs typeface="Arial"/>
              </a:defRPr>
            </a:defPPr>
          </a:lstStyle>
          <a:p xmlns:a="http://schemas.openxmlformats.org/drawingml/2006/main">
            <a:pPr>
              <a:defRPr sz="2100" b="0">
                <a:solidFill>
                  <a:srgbClr val="14324A"/>
                </a:solidFill>
                <a:latin typeface="Arial"/>
                <a:ea typeface="Arial"/>
                <a:cs typeface="Arial"/>
              </a:defRPr>
            </a:pPr>
            <a:r>
              <a:rPr sz="2100" b="0">
                <a:solidFill>
                  <a:srgbClr val="14324A"/>
                </a:solidFill>
                <a:latin typeface="Arial"/>
                <a:ea typeface="Arial"/>
                <a:cs typeface="Arial"/>
              </a:rPr>
              <a:t>Failures with missing usage remain unknown cost.</a:t>
            </a:r>
          </a:p>
        </p:txBody>
      </p:sp>
    </p:spTree>
    <p:extLst>
      <p:ext uri="{BB962C8B-B14F-4D97-AF65-F5344CB8AC3E}">
        <p14:creationId xmlns:p14="http://schemas.microsoft.com/office/powerpoint/2010/main" val="131785730"/>
      </p:ext>
    </p:extLst>
  </p:cSld>
</p:sld>
</file>

<file path=ppt/slides/slide15.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5DF622E-81FB-490D-856F-31C097B4CA62}"/>
              </a:ext>
            </a:extLst>
          </p:cNvPr>
          <p:cNvSpPr>
            <a:spLocks xmlns:a="http://schemas.openxmlformats.org/drawingml/2006/main" noGrp="1"/>
          </p:cNvSpPr>
          <p:nvPr/>
        </p:nvSpPr>
        <p:spPr>
          <a:xfrm xmlns:a="http://schemas.openxmlformats.org/drawingml/2006/main">
            <a:off x="609600" y="409575"/>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000" b="1">
                <a:solidFill>
                  <a:srgbClr val="14324A"/>
                </a:solidFill>
                <a:latin typeface="Arial"/>
                <a:ea typeface="Arial"/>
                <a:cs typeface="Arial"/>
              </a:defRPr>
            </a:defPPr>
          </a:lstStyle>
          <a:p xmlns:a="http://schemas.openxmlformats.org/drawingml/2006/main">
            <a:pPr>
              <a:defRPr sz="3000" b="1">
                <a:solidFill>
                  <a:srgbClr val="14324A"/>
                </a:solidFill>
                <a:latin typeface="Arial"/>
                <a:ea typeface="Arial"/>
                <a:cs typeface="Arial"/>
              </a:defRPr>
            </a:pPr>
            <a:r>
              <a:rPr sz="3000" b="1">
                <a:solidFill>
                  <a:srgbClr val="14324A"/>
                </a:solidFill>
                <a:latin typeface="Arial"/>
                <a:ea typeface="Arial"/>
                <a:cs typeface="Arial"/>
              </a:rPr>
              <a:t>Ablations must isolate each contribution</a:t>
            </a:r>
          </a:p>
        </p:txBody>
      </p:sp>
      <p:sp>
        <p:nvSpPr>
          <p:cNvPr id="2" name="">
            <a:extLst xmlns:a="http://schemas.openxmlformats.org/drawingml/2006/main">
              <a:ext uri="{FF2B5EF4-FFF2-40B4-BE49-F238E27FC236}">
                <a16:creationId xmlns:a16="http://schemas.microsoft.com/office/drawing/2014/main" id="{B94F7270-7A62-44EB-A541-DDF256CA658A}"/>
              </a:ext>
            </a:extLst>
          </p:cNvPr>
          <p:cNvSpPr>
            <a:spLocks xmlns:a="http://schemas.openxmlformats.org/drawingml/2006/main" noGrp="1"/>
          </p:cNvSpPr>
          <p:nvPr/>
        </p:nvSpPr>
        <p:spPr>
          <a:xfrm xmlns:a="http://schemas.openxmlformats.org/drawingml/2006/main">
            <a:off x="609600" y="64198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2697B"/>
                </a:solidFill>
                <a:latin typeface="Arial"/>
                <a:ea typeface="Arial"/>
                <a:cs typeface="Arial"/>
              </a:defRPr>
            </a:defPPr>
          </a:lstStyle>
          <a:p xmlns:a="http://schemas.openxmlformats.org/drawingml/2006/main">
            <a:pPr>
              <a:defRPr sz="1200" b="0">
                <a:solidFill>
                  <a:srgbClr val="52697B"/>
                </a:solidFill>
                <a:latin typeface="Arial"/>
                <a:ea typeface="Arial"/>
                <a:cs typeface="Arial"/>
              </a:defRPr>
            </a:pPr>
            <a:r>
              <a:rPr sz="1200" b="0">
                <a:solidFill>
                  <a:srgbClr val="52697B"/>
                </a:solidFill>
                <a:latin typeface="Arial"/>
                <a:ea typeface="Arial"/>
                <a:cs typeface="Arial"/>
              </a:rPr>
              <a:t>15  |  REVIEW 3 · HR KNOWLEDGE ASSISTANT</a:t>
            </a:r>
          </a:p>
        </p:txBody>
      </p:sp>
      <p:graphicFrame>
        <p:nvGraphicFramePr>
          <p:cNvPr id="3" name="">
            <a:extLst xmlns:a="http://schemas.openxmlformats.org/drawingml/2006/main">
              <a:ext uri="{FF2B5EF4-FFF2-40B4-BE49-F238E27FC236}">
                <a16:creationId xmlns:a16="http://schemas.microsoft.com/office/drawing/2014/main" id="{679DBAE3-E15E-487B-B676-6D6F0CA91F85}"/>
              </a:ext>
            </a:extLst>
          </p:cNvPr>
          <p:cNvGraphicFramePr/>
          <p:nvPr/>
        </p:nvGraphicFramePr>
        <p:xfrm>
          <a:off xmlns:a="http://schemas.openxmlformats.org/drawingml/2006/main" x="609600" y="1714500"/>
          <a:ext xmlns:a="http://schemas.openxmlformats.org/drawingml/2006/main" cx="10972800" cy="3000375"/>
        </p:xfrm>
        <a:graphic xmlns:a="http://schemas.openxmlformats.org/drawingml/2006/main">
          <a:graphicData uri="http://schemas.openxmlformats.org/drawingml/2006/table">
            <a:tbl>
              <a:tblPr/>
              <a:tblGrid>
                <a:gridCol w="3333750"/>
                <a:gridCol w="7639050"/>
              </a:tblGrid>
              <a:tr h="600075">
                <a:tc>
                  <a:txBody>
                    <a:bodyPr/>
                    <a:lstStyle/>
                    <a:p>
                      <a:r>
                        <a:rPr sz="1725" b="1">
                          <a:solidFill>
                            <a:srgbClr val="FFFFFF"/>
                          </a:solidFill>
                          <a:latin typeface="Arial"/>
                          <a:ea typeface="Arial"/>
                          <a:cs typeface="Arial"/>
                        </a:rPr>
                        <a:t>Change</a:t>
                      </a:r>
                    </a:p>
                  </a:txBody>
                  <a:tcPr marL="91440" marR="91440" marT="45720" marB="45720">
                    <a:solidFill>
                      <a:srgbClr val="10283D"/>
                    </a:solidFill>
                  </a:tcPr>
                </a:tc>
                <a:tc>
                  <a:txBody>
                    <a:bodyPr/>
                    <a:lstStyle/>
                    <a:p>
                      <a:r>
                        <a:rPr sz="1725" b="1">
                          <a:solidFill>
                            <a:srgbClr val="FFFFFF"/>
                          </a:solidFill>
                          <a:latin typeface="Arial"/>
                          <a:ea typeface="Arial"/>
                          <a:cs typeface="Arial"/>
                        </a:rPr>
                        <a:t>Hold constant / measure</a:t>
                      </a:r>
                    </a:p>
                  </a:txBody>
                  <a:tcPr marL="91440" marR="91440" marT="45720" marB="45720">
                    <a:solidFill>
                      <a:srgbClr val="10283D"/>
                    </a:solidFill>
                  </a:tcPr>
                </a:tc>
              </a:tr>
              <a:tr h="600075">
                <a:tc>
                  <a:txBody>
                    <a:bodyPr/>
                    <a:lstStyle/>
                    <a:p>
                      <a:r>
                        <a:rPr sz="1800" b="0">
                          <a:solidFill>
                            <a:srgbClr val="14324A"/>
                          </a:solidFill>
                          <a:latin typeface="Arial"/>
                          <a:ea typeface="Arial"/>
                          <a:cs typeface="Arial"/>
                        </a:rPr>
                        <a:t>Acronym resolver</a:t>
                      </a:r>
                    </a:p>
                  </a:txBody>
                  <a:tcPr marL="91440" marR="91440" marT="45720" marB="45720">
                    <a:solidFill>
                      <a:srgbClr val="FFFFFF"/>
                    </a:solidFill>
                  </a:tcPr>
                </a:tc>
                <a:tc>
                  <a:txBody>
                    <a:bodyPr/>
                    <a:lstStyle/>
                    <a:p>
                      <a:r>
                        <a:rPr sz="1800" b="0">
                          <a:solidFill>
                            <a:srgbClr val="14324A"/>
                          </a:solidFill>
                          <a:latin typeface="Arial"/>
                          <a:ea typeface="Arial"/>
                          <a:cs typeface="Arial"/>
                        </a:rPr>
                        <a:t>Same questions, policy and source corpus</a:t>
                      </a:r>
                    </a:p>
                  </a:txBody>
                  <a:tcPr marL="91440" marR="91440" marT="45720" marB="45720">
                    <a:solidFill>
                      <a:srgbClr val="FFFFFF"/>
                    </a:solidFill>
                  </a:tcPr>
                </a:tc>
              </a:tr>
              <a:tr h="600075">
                <a:tc>
                  <a:txBody>
                    <a:bodyPr/>
                    <a:lstStyle/>
                    <a:p>
                      <a:r>
                        <a:rPr sz="1800" b="0">
                          <a:solidFill>
                            <a:srgbClr val="14324A"/>
                          </a:solidFill>
                          <a:latin typeface="Arial"/>
                          <a:ea typeface="Arial"/>
                          <a:cs typeface="Arial"/>
                        </a:rPr>
                        <a:t>Context selection</a:t>
                      </a:r>
                    </a:p>
                  </a:txBody>
                  <a:tcPr marL="91440" marR="91440" marT="45720" marB="45720">
                    <a:solidFill>
                      <a:srgbClr val="EAF2F5"/>
                    </a:solidFill>
                  </a:tcPr>
                </a:tc>
                <a:tc>
                  <a:txBody>
                    <a:bodyPr/>
                    <a:lstStyle/>
                    <a:p>
                      <a:r>
                        <a:rPr sz="1800" b="0">
                          <a:solidFill>
                            <a:srgbClr val="14324A"/>
                          </a:solidFill>
                          <a:latin typeface="Arial"/>
                          <a:ea typeface="Arial"/>
                          <a:cs typeface="Arial"/>
                        </a:rPr>
                        <a:t>Same index and final model/prompt</a:t>
                      </a:r>
                    </a:p>
                  </a:txBody>
                  <a:tcPr marL="91440" marR="91440" marT="45720" marB="45720">
                    <a:solidFill>
                      <a:srgbClr val="EAF2F5"/>
                    </a:solidFill>
                  </a:tcPr>
                </a:tc>
              </a:tr>
              <a:tr h="600075">
                <a:tc>
                  <a:txBody>
                    <a:bodyPr/>
                    <a:lstStyle/>
                    <a:p>
                      <a:r>
                        <a:rPr sz="1800" b="0">
                          <a:solidFill>
                            <a:srgbClr val="14324A"/>
                          </a:solidFill>
                          <a:latin typeface="Arial"/>
                          <a:ea typeface="Arial"/>
                          <a:cs typeface="Arial"/>
                        </a:rPr>
                        <a:t>Stopping policy</a:t>
                      </a:r>
                    </a:p>
                  </a:txBody>
                  <a:tcPr marL="91440" marR="91440" marT="45720" marB="45720">
                    <a:solidFill>
                      <a:srgbClr val="FFFFFF"/>
                    </a:solidFill>
                  </a:tcPr>
                </a:tc>
                <a:tc>
                  <a:txBody>
                    <a:bodyPr/>
                    <a:lstStyle/>
                    <a:p>
                      <a:r>
                        <a:rPr sz="1800" b="0">
                          <a:solidFill>
                            <a:srgbClr val="14324A"/>
                          </a:solidFill>
                          <a:latin typeface="Arial"/>
                          <a:ea typeface="Arial"/>
                          <a:cs typeface="Arial"/>
                        </a:rPr>
                        <a:t>Same critic, retrieval and rewriting</a:t>
                      </a:r>
                    </a:p>
                  </a:txBody>
                  <a:tcPr marL="91440" marR="91440" marT="45720" marB="45720">
                    <a:solidFill>
                      <a:srgbClr val="FFFFFF"/>
                    </a:solidFill>
                  </a:tcPr>
                </a:tc>
              </a:tr>
              <a:tr h="600075">
                <a:tc>
                  <a:txBody>
                    <a:bodyPr/>
                    <a:lstStyle/>
                    <a:p>
                      <a:r>
                        <a:rPr sz="1800" b="0">
                          <a:solidFill>
                            <a:srgbClr val="14324A"/>
                          </a:solidFill>
                          <a:latin typeface="Arial"/>
                          <a:ea typeface="Arial"/>
                          <a:cs typeface="Arial"/>
                        </a:rPr>
                        <a:t>Gate / source rules</a:t>
                      </a:r>
                    </a:p>
                  </a:txBody>
                  <a:tcPr marL="91440" marR="91440" marT="45720" marB="45720">
                    <a:solidFill>
                      <a:srgbClr val="EAF2F5"/>
                    </a:solidFill>
                  </a:tcPr>
                </a:tc>
                <a:tc>
                  <a:txBody>
                    <a:bodyPr/>
                    <a:lstStyle/>
                    <a:p>
                      <a:r>
                        <a:rPr sz="1800" b="0">
                          <a:solidFill>
                            <a:srgbClr val="14324A"/>
                          </a:solidFill>
                          <a:latin typeface="Arial"/>
                          <a:ea typeface="Arial"/>
                          <a:cs typeface="Arial"/>
                        </a:rPr>
                        <a:t>Same stored evidence; quality and abstention</a:t>
                      </a:r>
                    </a:p>
                  </a:txBody>
                  <a:tcPr marL="91440" marR="91440" marT="45720" marB="45720">
                    <a:solidFill>
                      <a:srgbClr val="EAF2F5"/>
                    </a:solidFill>
                  </a:tcPr>
                </a:tc>
              </a:tr>
            </a:tbl>
          </a:graphicData>
        </a:graphic>
      </p:graphicFrame>
    </p:spTree>
    <p:extLst>
      <p:ext uri="{BB962C8B-B14F-4D97-AF65-F5344CB8AC3E}">
        <p14:creationId xmlns:p14="http://schemas.microsoft.com/office/powerpoint/2010/main" val="1048171970"/>
      </p:ext>
    </p:extLst>
  </p:cSld>
</p:sld>
</file>

<file path=ppt/slides/slide16.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7173FFA-C352-49EA-92A2-272D082FB38D}"/>
              </a:ext>
            </a:extLst>
          </p:cNvPr>
          <p:cNvSpPr>
            <a:spLocks xmlns:a="http://schemas.openxmlformats.org/drawingml/2006/main" noGrp="1"/>
          </p:cNvSpPr>
          <p:nvPr/>
        </p:nvSpPr>
        <p:spPr>
          <a:xfrm xmlns:a="http://schemas.openxmlformats.org/drawingml/2006/main">
            <a:off x="609600" y="409575"/>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000" b="1">
                <a:solidFill>
                  <a:srgbClr val="14324A"/>
                </a:solidFill>
                <a:latin typeface="Arial"/>
                <a:ea typeface="Arial"/>
                <a:cs typeface="Arial"/>
              </a:defRPr>
            </a:defPPr>
          </a:lstStyle>
          <a:p xmlns:a="http://schemas.openxmlformats.org/drawingml/2006/main">
            <a:pPr>
              <a:defRPr sz="3000" b="1">
                <a:solidFill>
                  <a:srgbClr val="14324A"/>
                </a:solidFill>
                <a:latin typeface="Arial"/>
                <a:ea typeface="Arial"/>
                <a:cs typeface="Arial"/>
              </a:defRPr>
            </a:pPr>
            <a:r>
              <a:rPr sz="3000" b="1">
                <a:solidFill>
                  <a:srgbClr val="14324A"/>
                </a:solidFill>
                <a:latin typeface="Arial"/>
                <a:ea typeface="Arial"/>
                <a:cs typeface="Arial"/>
              </a:rPr>
              <a:t>Verification supports the demo—not production readiness</a:t>
            </a:r>
          </a:p>
        </p:txBody>
      </p:sp>
      <p:sp>
        <p:nvSpPr>
          <p:cNvPr id="2" name="">
            <a:extLst xmlns:a="http://schemas.openxmlformats.org/drawingml/2006/main">
              <a:ext uri="{FF2B5EF4-FFF2-40B4-BE49-F238E27FC236}">
                <a16:creationId xmlns:a16="http://schemas.microsoft.com/office/drawing/2014/main" id="{20B9C813-CA96-4718-BC99-BB0C761EDACB}"/>
              </a:ext>
            </a:extLst>
          </p:cNvPr>
          <p:cNvSpPr>
            <a:spLocks xmlns:a="http://schemas.openxmlformats.org/drawingml/2006/main" noGrp="1"/>
          </p:cNvSpPr>
          <p:nvPr/>
        </p:nvSpPr>
        <p:spPr>
          <a:xfrm xmlns:a="http://schemas.openxmlformats.org/drawingml/2006/main">
            <a:off x="609600" y="64198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2697B"/>
                </a:solidFill>
                <a:latin typeface="Arial"/>
                <a:ea typeface="Arial"/>
                <a:cs typeface="Arial"/>
              </a:defRPr>
            </a:defPPr>
          </a:lstStyle>
          <a:p xmlns:a="http://schemas.openxmlformats.org/drawingml/2006/main">
            <a:pPr>
              <a:defRPr sz="1200" b="0">
                <a:solidFill>
                  <a:srgbClr val="52697B"/>
                </a:solidFill>
                <a:latin typeface="Arial"/>
                <a:ea typeface="Arial"/>
                <a:cs typeface="Arial"/>
              </a:defRPr>
            </a:pPr>
            <a:r>
              <a:rPr sz="1200" b="0">
                <a:solidFill>
                  <a:srgbClr val="52697B"/>
                </a:solidFill>
                <a:latin typeface="Arial"/>
                <a:ea typeface="Arial"/>
                <a:cs typeface="Arial"/>
              </a:rPr>
              <a:t>16  |  REVIEW 3 · HR KNOWLEDGE ASSISTANT</a:t>
            </a:r>
          </a:p>
        </p:txBody>
      </p:sp>
      <p:sp>
        <p:nvSpPr>
          <p:cNvPr id="3" name="">
            <a:extLst xmlns:a="http://schemas.openxmlformats.org/drawingml/2006/main">
              <a:ext uri="{FF2B5EF4-FFF2-40B4-BE49-F238E27FC236}">
                <a16:creationId xmlns:a16="http://schemas.microsoft.com/office/drawing/2014/main" id="{3342609F-314D-49C9-8DB3-8D7FD851B299}"/>
              </a:ext>
            </a:extLst>
          </p:cNvPr>
          <p:cNvSpPr>
            <a:spLocks xmlns:a="http://schemas.openxmlformats.org/drawingml/2006/main" noGrp="1"/>
          </p:cNvSpPr>
          <p:nvPr/>
        </p:nvSpPr>
        <p:spPr>
          <a:xfrm xmlns:a="http://schemas.openxmlformats.org/drawingml/2006/main">
            <a:off x="666750" y="1524000"/>
            <a:ext cx="1047750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4324A"/>
                </a:solidFill>
                <a:latin typeface="Arial"/>
                <a:ea typeface="Arial"/>
                <a:cs typeface="Arial"/>
              </a:defRPr>
            </a:defPPr>
          </a:lstStyle>
          <a:p xmlns:a="http://schemas.openxmlformats.org/drawingml/2006/main">
            <a:pPr>
              <a:defRPr sz="2100" b="0">
                <a:solidFill>
                  <a:srgbClr val="14324A"/>
                </a:solidFill>
                <a:latin typeface="Arial"/>
                <a:ea typeface="Arial"/>
                <a:cs typeface="Arial"/>
              </a:defRPr>
            </a:pPr>
            <a:r>
              <a:rPr sz="2100" b="0">
                <a:solidFill>
                  <a:srgbClr val="14324A"/>
                </a:solidFill>
                <a:latin typeface="Arial"/>
                <a:ea typeface="Arial"/>
                <a:cs typeface="Arial"/>
              </a:rPr>
              <a:t>89 tests pass; React / TypeScript production build passes.</a:t>
            </a:r>
          </a:p>
        </p:txBody>
      </p:sp>
      <p:sp>
        <p:nvSpPr>
          <p:cNvPr id="4" name="">
            <a:extLst xmlns:a="http://schemas.openxmlformats.org/drawingml/2006/main">
              <a:ext uri="{FF2B5EF4-FFF2-40B4-BE49-F238E27FC236}">
                <a16:creationId xmlns:a16="http://schemas.microsoft.com/office/drawing/2014/main" id="{740A5F54-9B8A-4F69-A38D-80EF53570455}"/>
              </a:ext>
            </a:extLst>
          </p:cNvPr>
          <p:cNvSpPr>
            <a:spLocks xmlns:a="http://schemas.openxmlformats.org/drawingml/2006/main" noGrp="1"/>
          </p:cNvSpPr>
          <p:nvPr/>
        </p:nvSpPr>
        <p:spPr>
          <a:xfrm xmlns:a="http://schemas.openxmlformats.org/drawingml/2006/main">
            <a:off x="666750" y="2524125"/>
            <a:ext cx="1047750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4324A"/>
                </a:solidFill>
                <a:latin typeface="Arial"/>
                <a:ea typeface="Arial"/>
                <a:cs typeface="Arial"/>
              </a:defRPr>
            </a:defPPr>
          </a:lstStyle>
          <a:p xmlns:a="http://schemas.openxmlformats.org/drawingml/2006/main">
            <a:pPr>
              <a:defRPr sz="2100" b="0">
                <a:solidFill>
                  <a:srgbClr val="14324A"/>
                </a:solidFill>
                <a:latin typeface="Arial"/>
                <a:ea typeface="Arial"/>
                <a:cs typeface="Arial"/>
              </a:defRPr>
            </a:pPr>
            <a:r>
              <a:rPr sz="2100" b="0">
                <a:solidFill>
                  <a:srgbClr val="14324A"/>
                </a:solidFill>
                <a:latin typeface="Arial"/>
                <a:ea typeface="Arial"/>
                <a:cs typeface="Arial"/>
              </a:rPr>
              <a:t>Authenticated policy responses and trajectories pass desktop/mobile checks.</a:t>
            </a:r>
          </a:p>
        </p:txBody>
      </p:sp>
      <p:sp>
        <p:nvSpPr>
          <p:cNvPr id="5" name="">
            <a:extLst xmlns:a="http://schemas.openxmlformats.org/drawingml/2006/main">
              <a:ext uri="{FF2B5EF4-FFF2-40B4-BE49-F238E27FC236}">
                <a16:creationId xmlns:a16="http://schemas.microsoft.com/office/drawing/2014/main" id="{7F231ECA-BCF2-460D-A671-42447B134D71}"/>
              </a:ext>
            </a:extLst>
          </p:cNvPr>
          <p:cNvSpPr>
            <a:spLocks xmlns:a="http://schemas.openxmlformats.org/drawingml/2006/main" noGrp="1"/>
          </p:cNvSpPr>
          <p:nvPr/>
        </p:nvSpPr>
        <p:spPr>
          <a:xfrm xmlns:a="http://schemas.openxmlformats.org/drawingml/2006/main">
            <a:off x="666750" y="3524250"/>
            <a:ext cx="1047750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4324A"/>
                </a:solidFill>
                <a:latin typeface="Arial"/>
                <a:ea typeface="Arial"/>
                <a:cs typeface="Arial"/>
              </a:defRPr>
            </a:defPPr>
          </a:lstStyle>
          <a:p xmlns:a="http://schemas.openxmlformats.org/drawingml/2006/main">
            <a:pPr>
              <a:defRPr sz="2100" b="0">
                <a:solidFill>
                  <a:srgbClr val="14324A"/>
                </a:solidFill>
                <a:latin typeface="Arial"/>
                <a:ea typeface="Arial"/>
                <a:cs typeface="Arial"/>
              </a:defRPr>
            </a:pPr>
            <a:r>
              <a:rPr sz="2100" b="0">
                <a:solidFill>
                  <a:srgbClr val="14324A"/>
                </a:solidFill>
                <a:latin typeface="Arial"/>
                <a:ea typeface="Arial"/>
                <a:cs typeface="Arial"/>
              </a:rPr>
              <a:t>Model, corpus and index hashes remain unchanged.</a:t>
            </a:r>
          </a:p>
        </p:txBody>
      </p:sp>
      <p:sp>
        <p:nvSpPr>
          <p:cNvPr id="6" name="">
            <a:extLst xmlns:a="http://schemas.openxmlformats.org/drawingml/2006/main">
              <a:ext uri="{FF2B5EF4-FFF2-40B4-BE49-F238E27FC236}">
                <a16:creationId xmlns:a16="http://schemas.microsoft.com/office/drawing/2014/main" id="{4FE233BD-C020-4F69-8761-F959C39BDF5F}"/>
              </a:ext>
            </a:extLst>
          </p:cNvPr>
          <p:cNvSpPr>
            <a:spLocks xmlns:a="http://schemas.openxmlformats.org/drawingml/2006/main" noGrp="1"/>
          </p:cNvSpPr>
          <p:nvPr/>
        </p:nvSpPr>
        <p:spPr>
          <a:xfrm xmlns:a="http://schemas.openxmlformats.org/drawingml/2006/main">
            <a:off x="666750" y="4524375"/>
            <a:ext cx="1047750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4324A"/>
                </a:solidFill>
                <a:latin typeface="Arial"/>
                <a:ea typeface="Arial"/>
                <a:cs typeface="Arial"/>
              </a:defRPr>
            </a:defPPr>
          </a:lstStyle>
          <a:p xmlns:a="http://schemas.openxmlformats.org/drawingml/2006/main">
            <a:pPr>
              <a:defRPr sz="2100" b="0">
                <a:solidFill>
                  <a:srgbClr val="14324A"/>
                </a:solidFill>
                <a:latin typeface="Arial"/>
                <a:ea typeface="Arial"/>
                <a:cs typeface="Arial"/>
              </a:defRPr>
            </a:pPr>
            <a:r>
              <a:rPr sz="2100" b="0">
                <a:solidFill>
                  <a:srgbClr val="14324A"/>
                </a:solidFill>
                <a:latin typeface="Arial"/>
                <a:ea typeface="Arial"/>
                <a:cs typeface="Arial"/>
              </a:rPr>
              <a:t>HTTPS, load, document ACLs and Windows acceptance remain unverified.</a:t>
            </a:r>
          </a:p>
        </p:txBody>
      </p:sp>
    </p:spTree>
    <p:extLst>
      <p:ext uri="{BB962C8B-B14F-4D97-AF65-F5344CB8AC3E}">
        <p14:creationId xmlns:p14="http://schemas.microsoft.com/office/powerpoint/2010/main" val="911389298"/>
      </p:ext>
    </p:extLst>
  </p:cSld>
</p:sld>
</file>

<file path=ppt/slides/slide17.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B27E360-F05F-445B-9D61-FBF4B1EBAFF7}"/>
              </a:ext>
            </a:extLst>
          </p:cNvPr>
          <p:cNvSpPr>
            <a:spLocks xmlns:a="http://schemas.openxmlformats.org/drawingml/2006/main" noGrp="1"/>
          </p:cNvSpPr>
          <p:nvPr/>
        </p:nvSpPr>
        <p:spPr>
          <a:xfrm xmlns:a="http://schemas.openxmlformats.org/drawingml/2006/main">
            <a:off x="609600" y="409575"/>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000" b="1">
                <a:solidFill>
                  <a:srgbClr val="14324A"/>
                </a:solidFill>
                <a:latin typeface="Arial"/>
                <a:ea typeface="Arial"/>
                <a:cs typeface="Arial"/>
              </a:defRPr>
            </a:defPPr>
          </a:lstStyle>
          <a:p xmlns:a="http://schemas.openxmlformats.org/drawingml/2006/main">
            <a:pPr>
              <a:defRPr sz="3000" b="1">
                <a:solidFill>
                  <a:srgbClr val="14324A"/>
                </a:solidFill>
                <a:latin typeface="Arial"/>
                <a:ea typeface="Arial"/>
                <a:cs typeface="Arial"/>
              </a:defRPr>
            </a:pPr>
            <a:r>
              <a:rPr sz="3000" b="1">
                <a:solidFill>
                  <a:srgbClr val="14324A"/>
                </a:solidFill>
                <a:latin typeface="Arial"/>
                <a:ea typeface="Arial"/>
                <a:cs typeface="Arial"/>
              </a:rPr>
              <a:t>The closest prior work limits novelty claims</a:t>
            </a:r>
          </a:p>
        </p:txBody>
      </p:sp>
      <p:sp>
        <p:nvSpPr>
          <p:cNvPr id="2" name="">
            <a:extLst xmlns:a="http://schemas.openxmlformats.org/drawingml/2006/main">
              <a:ext uri="{FF2B5EF4-FFF2-40B4-BE49-F238E27FC236}">
                <a16:creationId xmlns:a16="http://schemas.microsoft.com/office/drawing/2014/main" id="{2BFFAB91-E5A0-43E1-BD7B-F798AB86A9E2}"/>
              </a:ext>
            </a:extLst>
          </p:cNvPr>
          <p:cNvSpPr>
            <a:spLocks xmlns:a="http://schemas.openxmlformats.org/drawingml/2006/main" noGrp="1"/>
          </p:cNvSpPr>
          <p:nvPr/>
        </p:nvSpPr>
        <p:spPr>
          <a:xfrm xmlns:a="http://schemas.openxmlformats.org/drawingml/2006/main">
            <a:off x="609600" y="64198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2697B"/>
                </a:solidFill>
                <a:latin typeface="Arial"/>
                <a:ea typeface="Arial"/>
                <a:cs typeface="Arial"/>
              </a:defRPr>
            </a:defPPr>
          </a:lstStyle>
          <a:p xmlns:a="http://schemas.openxmlformats.org/drawingml/2006/main">
            <a:pPr>
              <a:defRPr sz="1200" b="0">
                <a:solidFill>
                  <a:srgbClr val="52697B"/>
                </a:solidFill>
                <a:latin typeface="Arial"/>
                <a:ea typeface="Arial"/>
                <a:cs typeface="Arial"/>
              </a:defRPr>
            </a:pPr>
            <a:r>
              <a:rPr sz="1200" b="0">
                <a:solidFill>
                  <a:srgbClr val="52697B"/>
                </a:solidFill>
                <a:latin typeface="Arial"/>
                <a:ea typeface="Arial"/>
                <a:cs typeface="Arial"/>
              </a:rPr>
              <a:t>17  |  REVIEW 3 · HR KNOWLEDGE ASSISTANT</a:t>
            </a:r>
          </a:p>
        </p:txBody>
      </p:sp>
      <p:sp>
        <p:nvSpPr>
          <p:cNvPr id="3" name="">
            <a:extLst xmlns:a="http://schemas.openxmlformats.org/drawingml/2006/main">
              <a:ext uri="{FF2B5EF4-FFF2-40B4-BE49-F238E27FC236}">
                <a16:creationId xmlns:a16="http://schemas.microsoft.com/office/drawing/2014/main" id="{548103B9-6730-4AB5-93EE-82FE26D430D3}"/>
              </a:ext>
            </a:extLst>
          </p:cNvPr>
          <p:cNvSpPr>
            <a:spLocks xmlns:a="http://schemas.openxmlformats.org/drawingml/2006/main" noGrp="1"/>
          </p:cNvSpPr>
          <p:nvPr/>
        </p:nvSpPr>
        <p:spPr>
          <a:xfrm xmlns:a="http://schemas.openxmlformats.org/drawingml/2006/main">
            <a:off x="666750" y="1524000"/>
            <a:ext cx="1047750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4324A"/>
                </a:solidFill>
                <a:latin typeface="Arial"/>
                <a:ea typeface="Arial"/>
                <a:cs typeface="Arial"/>
              </a:defRPr>
            </a:defPPr>
          </a:lstStyle>
          <a:p xmlns:a="http://schemas.openxmlformats.org/drawingml/2006/main">
            <a:pPr>
              <a:defRPr sz="2025" b="0">
                <a:solidFill>
                  <a:srgbClr val="14324A"/>
                </a:solidFill>
                <a:latin typeface="Arial"/>
                <a:ea typeface="Arial"/>
                <a:cs typeface="Arial"/>
              </a:defRPr>
            </a:pPr>
            <a:r>
              <a:rPr sz="2025" b="0">
                <a:solidFill>
                  <a:srgbClr val="14324A"/>
                </a:solidFill>
                <a:latin typeface="Arial"/>
                <a:ea typeface="Arial"/>
                <a:cs typeface="Arial"/>
              </a:rPr>
              <a:t>Self-RAG / CRAG: reflection and corrective retrieval.</a:t>
            </a:r>
          </a:p>
        </p:txBody>
      </p:sp>
      <p:sp>
        <p:nvSpPr>
          <p:cNvPr id="4" name="">
            <a:extLst xmlns:a="http://schemas.openxmlformats.org/drawingml/2006/main">
              <a:ext uri="{FF2B5EF4-FFF2-40B4-BE49-F238E27FC236}">
                <a16:creationId xmlns:a16="http://schemas.microsoft.com/office/drawing/2014/main" id="{3780A04A-E247-4BE7-8076-4A1F32160D97}"/>
              </a:ext>
            </a:extLst>
          </p:cNvPr>
          <p:cNvSpPr>
            <a:spLocks xmlns:a="http://schemas.openxmlformats.org/drawingml/2006/main" noGrp="1"/>
          </p:cNvSpPr>
          <p:nvPr/>
        </p:nvSpPr>
        <p:spPr>
          <a:xfrm xmlns:a="http://schemas.openxmlformats.org/drawingml/2006/main">
            <a:off x="666750" y="2524125"/>
            <a:ext cx="1047750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4324A"/>
                </a:solidFill>
                <a:latin typeface="Arial"/>
                <a:ea typeface="Arial"/>
                <a:cs typeface="Arial"/>
              </a:defRPr>
            </a:defPPr>
          </a:lstStyle>
          <a:p xmlns:a="http://schemas.openxmlformats.org/drawingml/2006/main">
            <a:pPr>
              <a:defRPr sz="2025" b="0">
                <a:solidFill>
                  <a:srgbClr val="14324A"/>
                </a:solidFill>
                <a:latin typeface="Arial"/>
                <a:ea typeface="Arial"/>
                <a:cs typeface="Arial"/>
              </a:defRPr>
            </a:pPr>
            <a:r>
              <a:rPr sz="2025" b="0">
                <a:solidFill>
                  <a:srgbClr val="14324A"/>
                </a:solidFill>
                <a:latin typeface="Arial"/>
                <a:ea typeface="Arial"/>
                <a:cs typeface="Arial"/>
              </a:rPr>
              <a:t>Adaptive-RAG: strategy selection by question complexity.</a:t>
            </a:r>
          </a:p>
        </p:txBody>
      </p:sp>
      <p:sp>
        <p:nvSpPr>
          <p:cNvPr id="5" name="">
            <a:extLst xmlns:a="http://schemas.openxmlformats.org/drawingml/2006/main">
              <a:ext uri="{FF2B5EF4-FFF2-40B4-BE49-F238E27FC236}">
                <a16:creationId xmlns:a16="http://schemas.microsoft.com/office/drawing/2014/main" id="{AE5F024A-B8FA-470D-A967-05B6FAB277D7}"/>
              </a:ext>
            </a:extLst>
          </p:cNvPr>
          <p:cNvSpPr>
            <a:spLocks xmlns:a="http://schemas.openxmlformats.org/drawingml/2006/main" noGrp="1"/>
          </p:cNvSpPr>
          <p:nvPr/>
        </p:nvSpPr>
        <p:spPr>
          <a:xfrm xmlns:a="http://schemas.openxmlformats.org/drawingml/2006/main">
            <a:off x="666750" y="3524250"/>
            <a:ext cx="1047750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4324A"/>
                </a:solidFill>
                <a:latin typeface="Arial"/>
                <a:ea typeface="Arial"/>
                <a:cs typeface="Arial"/>
              </a:defRPr>
            </a:defPPr>
          </a:lstStyle>
          <a:p xmlns:a="http://schemas.openxmlformats.org/drawingml/2006/main">
            <a:pPr>
              <a:defRPr sz="2025" b="0">
                <a:solidFill>
                  <a:srgbClr val="14324A"/>
                </a:solidFill>
                <a:latin typeface="Arial"/>
                <a:ea typeface="Arial"/>
                <a:cs typeface="Arial"/>
              </a:defRPr>
            </a:pPr>
            <a:r>
              <a:rPr sz="2025" b="0">
                <a:solidFill>
                  <a:srgbClr val="14324A"/>
                </a:solidFill>
                <a:latin typeface="Arial"/>
                <a:ea typeface="Arial"/>
                <a:cs typeface="Arial"/>
              </a:rPr>
              <a:t>Stop-RAG: learned value-based stopping; TASR: a calibrated stopping rule.</a:t>
            </a:r>
          </a:p>
        </p:txBody>
      </p:sp>
      <p:sp>
        <p:nvSpPr>
          <p:cNvPr id="6" name="">
            <a:extLst xmlns:a="http://schemas.openxmlformats.org/drawingml/2006/main">
              <a:ext uri="{FF2B5EF4-FFF2-40B4-BE49-F238E27FC236}">
                <a16:creationId xmlns:a16="http://schemas.microsoft.com/office/drawing/2014/main" id="{8425FAEE-7D52-4198-9D86-DA3A1C86ABE1}"/>
              </a:ext>
            </a:extLst>
          </p:cNvPr>
          <p:cNvSpPr>
            <a:spLocks xmlns:a="http://schemas.openxmlformats.org/drawingml/2006/main" noGrp="1"/>
          </p:cNvSpPr>
          <p:nvPr/>
        </p:nvSpPr>
        <p:spPr>
          <a:xfrm xmlns:a="http://schemas.openxmlformats.org/drawingml/2006/main">
            <a:off x="666750" y="4524375"/>
            <a:ext cx="1047750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4324A"/>
                </a:solidFill>
                <a:latin typeface="Arial"/>
                <a:ea typeface="Arial"/>
                <a:cs typeface="Arial"/>
              </a:defRPr>
            </a:defPPr>
          </a:lstStyle>
          <a:p xmlns:a="http://schemas.openxmlformats.org/drawingml/2006/main">
            <a:pPr>
              <a:defRPr sz="2025" b="0">
                <a:solidFill>
                  <a:srgbClr val="14324A"/>
                </a:solidFill>
                <a:latin typeface="Arial"/>
                <a:ea typeface="Arial"/>
                <a:cs typeface="Arial"/>
              </a:defRPr>
            </a:pPr>
            <a:r>
              <a:rPr sz="2025" b="0">
                <a:solidFill>
                  <a:srgbClr val="14324A"/>
                </a:solidFill>
                <a:latin typeface="Arial"/>
                <a:ea typeface="Arial"/>
                <a:cs typeface="Arial"/>
              </a:rPr>
              <a:t>The current contribution is auditable integration; measurable novelty is still unproven.</a:t>
            </a:r>
          </a:p>
        </p:txBody>
      </p:sp>
    </p:spTree>
    <p:extLst>
      <p:ext uri="{BB962C8B-B14F-4D97-AF65-F5344CB8AC3E}">
        <p14:creationId xmlns:p14="http://schemas.microsoft.com/office/powerpoint/2010/main" val="1859447955"/>
      </p:ext>
    </p:extLst>
  </p:cSld>
</p:sld>
</file>

<file path=ppt/slides/slide18.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C991108-6AF0-43D6-ACA4-71694F41C3A6}"/>
              </a:ext>
            </a:extLst>
          </p:cNvPr>
          <p:cNvSpPr>
            <a:spLocks xmlns:a="http://schemas.openxmlformats.org/drawingml/2006/main" noGrp="1"/>
          </p:cNvSpPr>
          <p:nvPr/>
        </p:nvSpPr>
        <p:spPr>
          <a:xfrm xmlns:a="http://schemas.openxmlformats.org/drawingml/2006/main">
            <a:off x="609600" y="409575"/>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000" b="1">
                <a:solidFill>
                  <a:srgbClr val="14324A"/>
                </a:solidFill>
                <a:latin typeface="Arial"/>
                <a:ea typeface="Arial"/>
                <a:cs typeface="Arial"/>
              </a:defRPr>
            </a:defPPr>
          </a:lstStyle>
          <a:p xmlns:a="http://schemas.openxmlformats.org/drawingml/2006/main">
            <a:pPr>
              <a:defRPr sz="3000" b="1">
                <a:solidFill>
                  <a:srgbClr val="14324A"/>
                </a:solidFill>
                <a:latin typeface="Arial"/>
                <a:ea typeface="Arial"/>
                <a:cs typeface="Arial"/>
              </a:defRPr>
            </a:pPr>
            <a:r>
              <a:rPr sz="3000" b="1">
                <a:solidFill>
                  <a:srgbClr val="14324A"/>
                </a:solidFill>
                <a:latin typeface="Arial"/>
                <a:ea typeface="Arial"/>
                <a:cs typeface="Arial"/>
              </a:rPr>
              <a:t>Approval and blind review come before final claims</a:t>
            </a:r>
          </a:p>
        </p:txBody>
      </p:sp>
      <p:sp>
        <p:nvSpPr>
          <p:cNvPr id="2" name="">
            <a:extLst xmlns:a="http://schemas.openxmlformats.org/drawingml/2006/main">
              <a:ext uri="{FF2B5EF4-FFF2-40B4-BE49-F238E27FC236}">
                <a16:creationId xmlns:a16="http://schemas.microsoft.com/office/drawing/2014/main" id="{30A486F1-95B5-40D7-BD85-5F8BB17CD06E}"/>
              </a:ext>
            </a:extLst>
          </p:cNvPr>
          <p:cNvSpPr>
            <a:spLocks xmlns:a="http://schemas.openxmlformats.org/drawingml/2006/main" noGrp="1"/>
          </p:cNvSpPr>
          <p:nvPr/>
        </p:nvSpPr>
        <p:spPr>
          <a:xfrm xmlns:a="http://schemas.openxmlformats.org/drawingml/2006/main">
            <a:off x="609600" y="64198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2697B"/>
                </a:solidFill>
                <a:latin typeface="Arial"/>
                <a:ea typeface="Arial"/>
                <a:cs typeface="Arial"/>
              </a:defRPr>
            </a:defPPr>
          </a:lstStyle>
          <a:p xmlns:a="http://schemas.openxmlformats.org/drawingml/2006/main">
            <a:pPr>
              <a:defRPr sz="1200" b="0">
                <a:solidFill>
                  <a:srgbClr val="52697B"/>
                </a:solidFill>
                <a:latin typeface="Arial"/>
                <a:ea typeface="Arial"/>
                <a:cs typeface="Arial"/>
              </a:defRPr>
            </a:pPr>
            <a:r>
              <a:rPr sz="1200" b="0">
                <a:solidFill>
                  <a:srgbClr val="52697B"/>
                </a:solidFill>
                <a:latin typeface="Arial"/>
                <a:ea typeface="Arial"/>
                <a:cs typeface="Arial"/>
              </a:rPr>
              <a:t>18  |  REVIEW 3 · HR KNOWLEDGE ASSISTANT</a:t>
            </a:r>
          </a:p>
        </p:txBody>
      </p:sp>
      <p:sp>
        <p:nvSpPr>
          <p:cNvPr id="3" name="">
            <a:extLst xmlns:a="http://schemas.openxmlformats.org/drawingml/2006/main">
              <a:ext uri="{FF2B5EF4-FFF2-40B4-BE49-F238E27FC236}">
                <a16:creationId xmlns:a16="http://schemas.microsoft.com/office/drawing/2014/main" id="{5DA8071C-D3A1-4328-9B94-84FA9C3B7222}"/>
              </a:ext>
            </a:extLst>
          </p:cNvPr>
          <p:cNvSpPr>
            <a:spLocks xmlns:a="http://schemas.openxmlformats.org/drawingml/2006/main" noGrp="1"/>
          </p:cNvSpPr>
          <p:nvPr/>
        </p:nvSpPr>
        <p:spPr>
          <a:xfrm xmlns:a="http://schemas.openxmlformats.org/drawingml/2006/main">
            <a:off x="666750" y="1524000"/>
            <a:ext cx="1047750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4324A"/>
                </a:solidFill>
                <a:latin typeface="Arial"/>
                <a:ea typeface="Arial"/>
                <a:cs typeface="Arial"/>
              </a:defRPr>
            </a:defPPr>
          </a:lstStyle>
          <a:p xmlns:a="http://schemas.openxmlformats.org/drawingml/2006/main">
            <a:pPr>
              <a:defRPr sz="2100" b="0">
                <a:solidFill>
                  <a:srgbClr val="14324A"/>
                </a:solidFill>
                <a:latin typeface="Arial"/>
                <a:ea typeface="Arial"/>
                <a:cs typeface="Arial"/>
              </a:defRPr>
            </a:pPr>
            <a:r>
              <a:rPr sz="2100" b="0">
                <a:solidFill>
                  <a:srgbClr val="14324A"/>
                </a:solidFill>
                <a:latin typeface="Arial"/>
                <a:ea typeface="Arial"/>
                <a:cs typeface="Arial"/>
              </a:rPr>
              <a:t>Review source answers and replace or resolve semantic overlaps.</a:t>
            </a:r>
          </a:p>
        </p:txBody>
      </p:sp>
      <p:sp>
        <p:nvSpPr>
          <p:cNvPr id="4" name="">
            <a:extLst xmlns:a="http://schemas.openxmlformats.org/drawingml/2006/main">
              <a:ext uri="{FF2B5EF4-FFF2-40B4-BE49-F238E27FC236}">
                <a16:creationId xmlns:a16="http://schemas.microsoft.com/office/drawing/2014/main" id="{DB6283A3-A5E9-4C46-BA28-C7A50BE5DF64}"/>
              </a:ext>
            </a:extLst>
          </p:cNvPr>
          <p:cNvSpPr>
            <a:spLocks xmlns:a="http://schemas.openxmlformats.org/drawingml/2006/main" noGrp="1"/>
          </p:cNvSpPr>
          <p:nvPr/>
        </p:nvSpPr>
        <p:spPr>
          <a:xfrm xmlns:a="http://schemas.openxmlformats.org/drawingml/2006/main">
            <a:off x="666750" y="2524125"/>
            <a:ext cx="1047750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4324A"/>
                </a:solidFill>
                <a:latin typeface="Arial"/>
                <a:ea typeface="Arial"/>
                <a:cs typeface="Arial"/>
              </a:defRPr>
            </a:defPPr>
          </a:lstStyle>
          <a:p xmlns:a="http://schemas.openxmlformats.org/drawingml/2006/main">
            <a:pPr>
              <a:defRPr sz="2100" b="0">
                <a:solidFill>
                  <a:srgbClr val="14324A"/>
                </a:solidFill>
                <a:latin typeface="Arial"/>
                <a:ea typeface="Arial"/>
                <a:cs typeface="Arial"/>
              </a:defRPr>
            </a:pPr>
            <a:r>
              <a:rPr sz="2100" b="0">
                <a:solidFill>
                  <a:srgbClr val="14324A"/>
                </a:solidFill>
                <a:latin typeface="Arial"/>
                <a:ea typeface="Arial"/>
                <a:cs typeface="Arial"/>
              </a:rPr>
              <a:t>Record genuine independent approval bound to the candidate hash.</a:t>
            </a:r>
          </a:p>
        </p:txBody>
      </p:sp>
      <p:sp>
        <p:nvSpPr>
          <p:cNvPr id="5" name="">
            <a:extLst xmlns:a="http://schemas.openxmlformats.org/drawingml/2006/main">
              <a:ext uri="{FF2B5EF4-FFF2-40B4-BE49-F238E27FC236}">
                <a16:creationId xmlns:a16="http://schemas.microsoft.com/office/drawing/2014/main" id="{DE5B5692-E18D-4AE2-88BB-6A6EF72A8D18}"/>
              </a:ext>
            </a:extLst>
          </p:cNvPr>
          <p:cNvSpPr>
            <a:spLocks xmlns:a="http://schemas.openxmlformats.org/drawingml/2006/main" noGrp="1"/>
          </p:cNvSpPr>
          <p:nvPr/>
        </p:nvSpPr>
        <p:spPr>
          <a:xfrm xmlns:a="http://schemas.openxmlformats.org/drawingml/2006/main">
            <a:off x="666750" y="3524250"/>
            <a:ext cx="1047750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4324A"/>
                </a:solidFill>
                <a:latin typeface="Arial"/>
                <a:ea typeface="Arial"/>
                <a:cs typeface="Arial"/>
              </a:defRPr>
            </a:defPPr>
          </a:lstStyle>
          <a:p xmlns:a="http://schemas.openxmlformats.org/drawingml/2006/main">
            <a:pPr>
              <a:defRPr sz="2100" b="0">
                <a:solidFill>
                  <a:srgbClr val="14324A"/>
                </a:solidFill>
                <a:latin typeface="Arial"/>
                <a:ea typeface="Arial"/>
                <a:cs typeface="Arial"/>
              </a:defRPr>
            </a:pPr>
            <a:r>
              <a:rPr sz="2100" b="0">
                <a:solidFill>
                  <a:srgbClr val="14324A"/>
                </a:solidFill>
                <a:latin typeface="Arial"/>
                <a:ea typeface="Arial"/>
                <a:cs typeface="Arial"/>
              </a:rPr>
              <a:t>Freeze dataset, code and assets; run the final controlled evaluation.</a:t>
            </a:r>
          </a:p>
        </p:txBody>
      </p:sp>
      <p:sp>
        <p:nvSpPr>
          <p:cNvPr id="6" name="">
            <a:extLst xmlns:a="http://schemas.openxmlformats.org/drawingml/2006/main">
              <a:ext uri="{FF2B5EF4-FFF2-40B4-BE49-F238E27FC236}">
                <a16:creationId xmlns:a16="http://schemas.microsoft.com/office/drawing/2014/main" id="{2D714774-DBCE-43A0-9976-662D18FBFD1D}"/>
              </a:ext>
            </a:extLst>
          </p:cNvPr>
          <p:cNvSpPr>
            <a:spLocks xmlns:a="http://schemas.openxmlformats.org/drawingml/2006/main" noGrp="1"/>
          </p:cNvSpPr>
          <p:nvPr/>
        </p:nvSpPr>
        <p:spPr>
          <a:xfrm xmlns:a="http://schemas.openxmlformats.org/drawingml/2006/main">
            <a:off x="666750" y="4524375"/>
            <a:ext cx="1047750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4324A"/>
                </a:solidFill>
                <a:latin typeface="Arial"/>
                <a:ea typeface="Arial"/>
                <a:cs typeface="Arial"/>
              </a:defRPr>
            </a:defPPr>
          </a:lstStyle>
          <a:p xmlns:a="http://schemas.openxmlformats.org/drawingml/2006/main">
            <a:pPr>
              <a:defRPr sz="2100" b="0">
                <a:solidFill>
                  <a:srgbClr val="14324A"/>
                </a:solidFill>
                <a:latin typeface="Arial"/>
                <a:ea typeface="Arial"/>
                <a:cs typeface="Arial"/>
              </a:defRPr>
            </a:pPr>
            <a:r>
              <a:rPr sz="2100" b="0">
                <a:solidFill>
                  <a:srgbClr val="14324A"/>
                </a:solidFill>
                <a:latin typeface="Arial"/>
                <a:ea typeface="Arial"/>
                <a:cs typeface="Arial"/>
              </a:rPr>
              <a:t>Collect two blinded reviews, adjudicate and report agreement.</a:t>
            </a:r>
          </a:p>
        </p:txBody>
      </p:sp>
    </p:spTree>
    <p:extLst>
      <p:ext uri="{BB962C8B-B14F-4D97-AF65-F5344CB8AC3E}">
        <p14:creationId xmlns:p14="http://schemas.microsoft.com/office/powerpoint/2010/main" val="1431969307"/>
      </p:ext>
    </p:extLst>
  </p:cSld>
</p:sld>
</file>

<file path=ppt/slides/slide19.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5C71B34-023E-42C8-9D0C-B6985CF38868}"/>
              </a:ext>
            </a:extLst>
          </p:cNvPr>
          <p:cNvSpPr>
            <a:spLocks xmlns:a="http://schemas.openxmlformats.org/drawingml/2006/main" noGrp="1"/>
          </p:cNvSpPr>
          <p:nvPr/>
        </p:nvSpPr>
        <p:spPr>
          <a:xfrm xmlns:a="http://schemas.openxmlformats.org/drawingml/2006/main">
            <a:off x="609600" y="409575"/>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000" b="1">
                <a:solidFill>
                  <a:srgbClr val="14324A"/>
                </a:solidFill>
                <a:latin typeface="Arial"/>
                <a:ea typeface="Arial"/>
                <a:cs typeface="Arial"/>
              </a:defRPr>
            </a:defPPr>
          </a:lstStyle>
          <a:p xmlns:a="http://schemas.openxmlformats.org/drawingml/2006/main">
            <a:pPr>
              <a:defRPr sz="3000" b="1">
                <a:solidFill>
                  <a:srgbClr val="14324A"/>
                </a:solidFill>
                <a:latin typeface="Arial"/>
                <a:ea typeface="Arial"/>
                <a:cs typeface="Arial"/>
              </a:defRPr>
            </a:pPr>
            <a:r>
              <a:rPr sz="3000" b="1">
                <a:solidFill>
                  <a:srgbClr val="14324A"/>
                </a:solidFill>
                <a:latin typeface="Arial"/>
                <a:ea typeface="Arial"/>
                <a:cs typeface="Arial"/>
              </a:rPr>
              <a:t>Publication and IP need evidence and coordination</a:t>
            </a:r>
          </a:p>
        </p:txBody>
      </p:sp>
      <p:sp>
        <p:nvSpPr>
          <p:cNvPr id="2" name="">
            <a:extLst xmlns:a="http://schemas.openxmlformats.org/drawingml/2006/main">
              <a:ext uri="{FF2B5EF4-FFF2-40B4-BE49-F238E27FC236}">
                <a16:creationId xmlns:a16="http://schemas.microsoft.com/office/drawing/2014/main" id="{E7BD2AC7-7984-444A-9920-3C845D97B586}"/>
              </a:ext>
            </a:extLst>
          </p:cNvPr>
          <p:cNvSpPr>
            <a:spLocks xmlns:a="http://schemas.openxmlformats.org/drawingml/2006/main" noGrp="1"/>
          </p:cNvSpPr>
          <p:nvPr/>
        </p:nvSpPr>
        <p:spPr>
          <a:xfrm xmlns:a="http://schemas.openxmlformats.org/drawingml/2006/main">
            <a:off x="609600" y="64198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2697B"/>
                </a:solidFill>
                <a:latin typeface="Arial"/>
                <a:ea typeface="Arial"/>
                <a:cs typeface="Arial"/>
              </a:defRPr>
            </a:defPPr>
          </a:lstStyle>
          <a:p xmlns:a="http://schemas.openxmlformats.org/drawingml/2006/main">
            <a:pPr>
              <a:defRPr sz="1200" b="0">
                <a:solidFill>
                  <a:srgbClr val="52697B"/>
                </a:solidFill>
                <a:latin typeface="Arial"/>
                <a:ea typeface="Arial"/>
                <a:cs typeface="Arial"/>
              </a:defRPr>
            </a:pPr>
            <a:r>
              <a:rPr sz="1200" b="0">
                <a:solidFill>
                  <a:srgbClr val="52697B"/>
                </a:solidFill>
                <a:latin typeface="Arial"/>
                <a:ea typeface="Arial"/>
                <a:cs typeface="Arial"/>
              </a:rPr>
              <a:t>19  |  REVIEW 3 · HR KNOWLEDGE ASSISTANT</a:t>
            </a:r>
          </a:p>
        </p:txBody>
      </p:sp>
      <p:sp>
        <p:nvSpPr>
          <p:cNvPr id="3" name="">
            <a:extLst xmlns:a="http://schemas.openxmlformats.org/drawingml/2006/main">
              <a:ext uri="{FF2B5EF4-FFF2-40B4-BE49-F238E27FC236}">
                <a16:creationId xmlns:a16="http://schemas.microsoft.com/office/drawing/2014/main" id="{CA90881C-3E85-4D42-9C81-13463830FB60}"/>
              </a:ext>
            </a:extLst>
          </p:cNvPr>
          <p:cNvSpPr>
            <a:spLocks xmlns:a="http://schemas.openxmlformats.org/drawingml/2006/main" noGrp="1"/>
          </p:cNvSpPr>
          <p:nvPr/>
        </p:nvSpPr>
        <p:spPr>
          <a:xfrm xmlns:a="http://schemas.openxmlformats.org/drawingml/2006/main">
            <a:off x="666750" y="1524000"/>
            <a:ext cx="1047750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4324A"/>
                </a:solidFill>
                <a:latin typeface="Arial"/>
                <a:ea typeface="Arial"/>
                <a:cs typeface="Arial"/>
              </a:defRPr>
            </a:defPPr>
          </a:lstStyle>
          <a:p xmlns:a="http://schemas.openxmlformats.org/drawingml/2006/main">
            <a:pPr>
              <a:defRPr sz="2100" b="0">
                <a:solidFill>
                  <a:srgbClr val="14324A"/>
                </a:solidFill>
                <a:latin typeface="Arial"/>
                <a:ea typeface="Arial"/>
                <a:cs typeface="Arial"/>
              </a:defRPr>
            </a:pPr>
            <a:r>
              <a:rPr sz="2100" b="0">
                <a:solidFill>
                  <a:srgbClr val="14324A"/>
                </a:solidFill>
                <a:latin typeface="Arial"/>
                <a:ea typeface="Arial"/>
                <a:cs typeface="Arial"/>
              </a:rPr>
              <a:t>Working software alone does not establish patentable novelty.</a:t>
            </a:r>
          </a:p>
        </p:txBody>
      </p:sp>
      <p:sp>
        <p:nvSpPr>
          <p:cNvPr id="4" name="">
            <a:extLst xmlns:a="http://schemas.openxmlformats.org/drawingml/2006/main">
              <a:ext uri="{FF2B5EF4-FFF2-40B4-BE49-F238E27FC236}">
                <a16:creationId xmlns:a16="http://schemas.microsoft.com/office/drawing/2014/main" id="{9A1EF4D3-8FF4-4D6F-B263-8B17292D3AA2}"/>
              </a:ext>
            </a:extLst>
          </p:cNvPr>
          <p:cNvSpPr>
            <a:spLocks xmlns:a="http://schemas.openxmlformats.org/drawingml/2006/main" noGrp="1"/>
          </p:cNvSpPr>
          <p:nvPr/>
        </p:nvSpPr>
        <p:spPr>
          <a:xfrm xmlns:a="http://schemas.openxmlformats.org/drawingml/2006/main">
            <a:off x="666750" y="2524125"/>
            <a:ext cx="1047750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4324A"/>
                </a:solidFill>
                <a:latin typeface="Arial"/>
                <a:ea typeface="Arial"/>
                <a:cs typeface="Arial"/>
              </a:defRPr>
            </a:defPPr>
          </a:lstStyle>
          <a:p xmlns:a="http://schemas.openxmlformats.org/drawingml/2006/main">
            <a:pPr>
              <a:defRPr sz="2100" b="0">
                <a:solidFill>
                  <a:srgbClr val="14324A"/>
                </a:solidFill>
                <a:latin typeface="Arial"/>
                <a:ea typeface="Arial"/>
                <a:cs typeface="Arial"/>
              </a:defRPr>
            </a:pPr>
            <a:r>
              <a:rPr sz="2100" b="0">
                <a:solidFill>
                  <a:srgbClr val="14324A"/>
                </a:solidFill>
                <a:latin typeface="Arial"/>
                <a:ea typeface="Arial"/>
                <a:cs typeface="Arial"/>
              </a:rPr>
              <a:t>Compare specific technical claims against corrective RAG and stopping prior art.</a:t>
            </a:r>
          </a:p>
        </p:txBody>
      </p:sp>
      <p:sp>
        <p:nvSpPr>
          <p:cNvPr id="5" name="">
            <a:extLst xmlns:a="http://schemas.openxmlformats.org/drawingml/2006/main">
              <a:ext uri="{FF2B5EF4-FFF2-40B4-BE49-F238E27FC236}">
                <a16:creationId xmlns:a16="http://schemas.microsoft.com/office/drawing/2014/main" id="{A8ABE261-143A-4C4B-9C77-5F7949D31AF0}"/>
              </a:ext>
            </a:extLst>
          </p:cNvPr>
          <p:cNvSpPr>
            <a:spLocks xmlns:a="http://schemas.openxmlformats.org/drawingml/2006/main" noGrp="1"/>
          </p:cNvSpPr>
          <p:nvPr/>
        </p:nvSpPr>
        <p:spPr>
          <a:xfrm xmlns:a="http://schemas.openxmlformats.org/drawingml/2006/main">
            <a:off x="666750" y="3524250"/>
            <a:ext cx="1047750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4324A"/>
                </a:solidFill>
                <a:latin typeface="Arial"/>
                <a:ea typeface="Arial"/>
                <a:cs typeface="Arial"/>
              </a:defRPr>
            </a:defPPr>
          </a:lstStyle>
          <a:p xmlns:a="http://schemas.openxmlformats.org/drawingml/2006/main">
            <a:pPr>
              <a:defRPr sz="2100" b="0">
                <a:solidFill>
                  <a:srgbClr val="14324A"/>
                </a:solidFill>
                <a:latin typeface="Arial"/>
                <a:ea typeface="Arial"/>
                <a:cs typeface="Arial"/>
              </a:defRPr>
            </a:pPr>
            <a:r>
              <a:rPr sz="2100" b="0">
                <a:solidFill>
                  <a:srgbClr val="14324A"/>
                </a:solidFill>
                <a:latin typeface="Arial"/>
                <a:ea typeface="Arial"/>
                <a:cs typeface="Arial"/>
              </a:rPr>
              <a:t>Discuss dated implementation and public disclosures with VIT IPR and qualified counsel.</a:t>
            </a:r>
          </a:p>
        </p:txBody>
      </p:sp>
      <p:sp>
        <p:nvSpPr>
          <p:cNvPr id="6" name="">
            <a:extLst xmlns:a="http://schemas.openxmlformats.org/drawingml/2006/main">
              <a:ext uri="{FF2B5EF4-FFF2-40B4-BE49-F238E27FC236}">
                <a16:creationId xmlns:a16="http://schemas.microsoft.com/office/drawing/2014/main" id="{68DF3196-F9CE-4A23-AE68-E798A79BA685}"/>
              </a:ext>
            </a:extLst>
          </p:cNvPr>
          <p:cNvSpPr>
            <a:spLocks xmlns:a="http://schemas.openxmlformats.org/drawingml/2006/main" noGrp="1"/>
          </p:cNvSpPr>
          <p:nvPr/>
        </p:nvSpPr>
        <p:spPr>
          <a:xfrm xmlns:a="http://schemas.openxmlformats.org/drawingml/2006/main">
            <a:off x="666750" y="4524375"/>
            <a:ext cx="1047750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4324A"/>
                </a:solidFill>
                <a:latin typeface="Arial"/>
                <a:ea typeface="Arial"/>
                <a:cs typeface="Arial"/>
              </a:defRPr>
            </a:defPPr>
          </a:lstStyle>
          <a:p xmlns:a="http://schemas.openxmlformats.org/drawingml/2006/main">
            <a:pPr>
              <a:defRPr sz="2100" b="0">
                <a:solidFill>
                  <a:srgbClr val="14324A"/>
                </a:solidFill>
                <a:latin typeface="Arial"/>
                <a:ea typeface="Arial"/>
                <a:cs typeface="Arial"/>
              </a:defRPr>
            </a:pPr>
            <a:r>
              <a:rPr sz="2100" b="0">
                <a:solidFill>
                  <a:srgbClr val="14324A"/>
                </a:solidFill>
                <a:latin typeface="Arial"/>
                <a:ea typeface="Arial"/>
                <a:cs typeface="Arial"/>
              </a:rPr>
              <a:t>Align university review, any filing and paper/thesis publication.</a:t>
            </a:r>
          </a:p>
        </p:txBody>
      </p:sp>
    </p:spTree>
    <p:extLst>
      <p:ext uri="{BB962C8B-B14F-4D97-AF65-F5344CB8AC3E}">
        <p14:creationId xmlns:p14="http://schemas.microsoft.com/office/powerpoint/2010/main" val="769862188"/>
      </p:ext>
    </p:extLst>
  </p:cSld>
</p:sld>
</file>

<file path=ppt/slides/slide20.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A9F1744-EDD6-4A5F-AF49-10663755471E}"/>
              </a:ext>
            </a:extLst>
          </p:cNvPr>
          <p:cNvSpPr>
            <a:spLocks xmlns:a="http://schemas.openxmlformats.org/drawingml/2006/main" noGrp="1"/>
          </p:cNvSpPr>
          <p:nvPr/>
        </p:nvSpPr>
        <p:spPr>
          <a:xfrm xmlns:a="http://schemas.openxmlformats.org/drawingml/2006/main">
            <a:off x="609600" y="409575"/>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000" b="1">
                <a:solidFill>
                  <a:srgbClr val="14324A"/>
                </a:solidFill>
                <a:latin typeface="Arial"/>
                <a:ea typeface="Arial"/>
                <a:cs typeface="Arial"/>
              </a:defRPr>
            </a:defPPr>
          </a:lstStyle>
          <a:p xmlns:a="http://schemas.openxmlformats.org/drawingml/2006/main">
            <a:pPr>
              <a:defRPr sz="3000" b="1">
                <a:solidFill>
                  <a:srgbClr val="14324A"/>
                </a:solidFill>
                <a:latin typeface="Arial"/>
                <a:ea typeface="Arial"/>
                <a:cs typeface="Arial"/>
              </a:defRPr>
            </a:pPr>
            <a:r>
              <a:rPr sz="3000" b="1">
                <a:solidFill>
                  <a:srgbClr val="14324A"/>
                </a:solidFill>
                <a:latin typeface="Arial"/>
                <a:ea typeface="Arial"/>
                <a:cs typeface="Arial"/>
              </a:rPr>
              <a:t>A working demonstration; an unfinished independent study</a:t>
            </a:r>
          </a:p>
        </p:txBody>
      </p:sp>
      <p:sp>
        <p:nvSpPr>
          <p:cNvPr id="2" name="">
            <a:extLst xmlns:a="http://schemas.openxmlformats.org/drawingml/2006/main">
              <a:ext uri="{FF2B5EF4-FFF2-40B4-BE49-F238E27FC236}">
                <a16:creationId xmlns:a16="http://schemas.microsoft.com/office/drawing/2014/main" id="{0E32CC5E-4749-4E6F-AE16-A2254F131B18}"/>
              </a:ext>
            </a:extLst>
          </p:cNvPr>
          <p:cNvSpPr>
            <a:spLocks xmlns:a="http://schemas.openxmlformats.org/drawingml/2006/main" noGrp="1"/>
          </p:cNvSpPr>
          <p:nvPr/>
        </p:nvSpPr>
        <p:spPr>
          <a:xfrm xmlns:a="http://schemas.openxmlformats.org/drawingml/2006/main">
            <a:off x="609600" y="64198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2697B"/>
                </a:solidFill>
                <a:latin typeface="Arial"/>
                <a:ea typeface="Arial"/>
                <a:cs typeface="Arial"/>
              </a:defRPr>
            </a:defPPr>
          </a:lstStyle>
          <a:p xmlns:a="http://schemas.openxmlformats.org/drawingml/2006/main">
            <a:pPr>
              <a:defRPr sz="1200" b="0">
                <a:solidFill>
                  <a:srgbClr val="52697B"/>
                </a:solidFill>
                <a:latin typeface="Arial"/>
                <a:ea typeface="Arial"/>
                <a:cs typeface="Arial"/>
              </a:defRPr>
            </a:pPr>
            <a:r>
              <a:rPr sz="1200" b="0">
                <a:solidFill>
                  <a:srgbClr val="52697B"/>
                </a:solidFill>
                <a:latin typeface="Arial"/>
                <a:ea typeface="Arial"/>
                <a:cs typeface="Arial"/>
              </a:rPr>
              <a:t>20  |  REVIEW 3 · HR KNOWLEDGE ASSISTANT</a:t>
            </a:r>
          </a:p>
        </p:txBody>
      </p:sp>
      <p:sp>
        <p:nvSpPr>
          <p:cNvPr id="3" name="">
            <a:extLst xmlns:a="http://schemas.openxmlformats.org/drawingml/2006/main">
              <a:ext uri="{FF2B5EF4-FFF2-40B4-BE49-F238E27FC236}">
                <a16:creationId xmlns:a16="http://schemas.microsoft.com/office/drawing/2014/main" id="{70283CF9-61AE-4495-8857-81A324086463}"/>
              </a:ext>
            </a:extLst>
          </p:cNvPr>
          <p:cNvSpPr>
            <a:spLocks xmlns:a="http://schemas.openxmlformats.org/drawingml/2006/main" noGrp="1"/>
          </p:cNvSpPr>
          <p:nvPr/>
        </p:nvSpPr>
        <p:spPr>
          <a:xfrm xmlns:a="http://schemas.openxmlformats.org/drawingml/2006/main">
            <a:off x="666750" y="1666875"/>
            <a:ext cx="10477500" cy="1228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4324A"/>
                </a:solidFill>
                <a:latin typeface="Arial"/>
                <a:ea typeface="Arial"/>
                <a:cs typeface="Arial"/>
              </a:defRPr>
            </a:defPPr>
          </a:lstStyle>
          <a:p xmlns:a="http://schemas.openxmlformats.org/drawingml/2006/main">
            <a:pPr>
              <a:defRPr sz="2250" b="0">
                <a:solidFill>
                  <a:srgbClr val="14324A"/>
                </a:solidFill>
                <a:latin typeface="Arial"/>
                <a:ea typeface="Arial"/>
                <a:cs typeface="Arial"/>
              </a:defRPr>
            </a:pPr>
            <a:r>
              <a:rPr sz="2250" b="0">
                <a:solidFill>
                  <a:srgbClr val="14324A"/>
                </a:solidFill>
                <a:latin typeface="Arial"/>
                <a:ea typeface="Arial"/>
                <a:cs typeface="Arial"/>
              </a:rPr>
              <a:t>Ready: working UI, tests, development evidence, candidate materials and reproducibility workflow.</a:t>
            </a:r>
          </a:p>
        </p:txBody>
      </p:sp>
      <p:sp>
        <p:nvSpPr>
          <p:cNvPr id="4" name="">
            <a:extLst xmlns:a="http://schemas.openxmlformats.org/drawingml/2006/main">
              <a:ext uri="{FF2B5EF4-FFF2-40B4-BE49-F238E27FC236}">
                <a16:creationId xmlns:a16="http://schemas.microsoft.com/office/drawing/2014/main" id="{BE8B45A2-1C28-4DA3-A652-EBC22CAB0668}"/>
              </a:ext>
            </a:extLst>
          </p:cNvPr>
          <p:cNvSpPr>
            <a:spLocks xmlns:a="http://schemas.openxmlformats.org/drawingml/2006/main" noGrp="1"/>
          </p:cNvSpPr>
          <p:nvPr/>
        </p:nvSpPr>
        <p:spPr>
          <a:xfrm xmlns:a="http://schemas.openxmlformats.org/drawingml/2006/main">
            <a:off x="666750" y="3048000"/>
            <a:ext cx="10477500" cy="1228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4324A"/>
                </a:solidFill>
                <a:latin typeface="Arial"/>
                <a:ea typeface="Arial"/>
                <a:cs typeface="Arial"/>
              </a:defRPr>
            </a:defPPr>
          </a:lstStyle>
          <a:p xmlns:a="http://schemas.openxmlformats.org/drawingml/2006/main">
            <a:pPr>
              <a:defRPr sz="2250" b="0">
                <a:solidFill>
                  <a:srgbClr val="14324A"/>
                </a:solidFill>
                <a:latin typeface="Arial"/>
                <a:ea typeface="Arial"/>
                <a:cs typeface="Arial"/>
              </a:defRPr>
            </a:pPr>
            <a:r>
              <a:rPr sz="2250" b="0">
                <a:solidFill>
                  <a:srgbClr val="14324A"/>
                </a:solidFill>
                <a:latin typeface="Arial"/>
                <a:ea typeface="Arial"/>
                <a:cs typeface="Arial"/>
              </a:rPr>
              <a:t>Pending: independent approval, held-out answer quality, matched API costs and Windows acceptance.</a:t>
            </a:r>
          </a:p>
        </p:txBody>
      </p:sp>
      <p:sp>
        <p:nvSpPr>
          <p:cNvPr id="5" name="">
            <a:extLst xmlns:a="http://schemas.openxmlformats.org/drawingml/2006/main">
              <a:ext uri="{FF2B5EF4-FFF2-40B4-BE49-F238E27FC236}">
                <a16:creationId xmlns:a16="http://schemas.microsoft.com/office/drawing/2014/main" id="{42906D88-23E3-4116-8B3D-FF70A088F572}"/>
              </a:ext>
            </a:extLst>
          </p:cNvPr>
          <p:cNvSpPr>
            <a:spLocks xmlns:a="http://schemas.openxmlformats.org/drawingml/2006/main" noGrp="1"/>
          </p:cNvSpPr>
          <p:nvPr/>
        </p:nvSpPr>
        <p:spPr>
          <a:xfrm xmlns:a="http://schemas.openxmlformats.org/drawingml/2006/main">
            <a:off x="666750" y="4429125"/>
            <a:ext cx="10477500" cy="1228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4324A"/>
                </a:solidFill>
                <a:latin typeface="Arial"/>
                <a:ea typeface="Arial"/>
                <a:cs typeface="Arial"/>
              </a:defRPr>
            </a:defPPr>
          </a:lstStyle>
          <a:p xmlns:a="http://schemas.openxmlformats.org/drawingml/2006/main">
            <a:pPr>
              <a:defRPr sz="2250" b="0">
                <a:solidFill>
                  <a:srgbClr val="14324A"/>
                </a:solidFill>
                <a:latin typeface="Arial"/>
                <a:ea typeface="Arial"/>
                <a:cs typeface="Arial"/>
              </a:defRPr>
            </a:pPr>
            <a:r>
              <a:rPr sz="2250" b="0">
                <a:solidFill>
                  <a:srgbClr val="14324A"/>
                </a:solidFill>
                <a:latin typeface="Arial"/>
                <a:ea typeface="Arial"/>
                <a:cs typeface="Arial"/>
              </a:rPr>
              <a:t>Demonstrate the evidence trail—and explain exactly what each metric means.</a:t>
            </a:r>
          </a:p>
        </p:txBody>
      </p:sp>
    </p:spTree>
    <p:extLst>
      <p:ext uri="{BB962C8B-B14F-4D97-AF65-F5344CB8AC3E}">
        <p14:creationId xmlns:p14="http://schemas.microsoft.com/office/powerpoint/2010/main" val="3306692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2026-10-14T16:54:36.0640000Z</dcterms:created>
  <dcterms:modified xsi:type="dcterms:W3CDTF">2026-10-14T16:54:36.0640000Z</dcterms:modified>
</coreProperties>
</file>